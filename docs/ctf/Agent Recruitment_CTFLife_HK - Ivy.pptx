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D4D1"/>
    <a:srgbClr val="009188"/>
    <a:srgbClr val="DDE4E6"/>
    <a:srgbClr val="F2F2F2"/>
    <a:srgbClr val="CDEAE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049" autoAdjust="0"/>
    <p:restoredTop sz="94630"/>
  </p:normalViewPr>
  <p:slideViewPr>
    <p:cSldViewPr snapToGrid="0">
      <p:cViewPr varScale="1">
        <p:scale>
          <a:sx n="113" d="100"/>
          <a:sy n="113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y Li" userId="e5d6e31d-e508-4d5d-b95b-b5ccfc06586d" providerId="ADAL" clId="{CF9C9CE5-3EBD-5C25-BC86-14BDD414BE6B}"/>
    <pc:docChg chg="modSld">
      <pc:chgData name="Ivy Li" userId="e5d6e31d-e508-4d5d-b95b-b5ccfc06586d" providerId="ADAL" clId="{CF9C9CE5-3EBD-5C25-BC86-14BDD414BE6B}" dt="2025-12-31T08:38:56.098" v="4" actId="403"/>
      <pc:docMkLst>
        <pc:docMk/>
      </pc:docMkLst>
      <pc:sldChg chg="modSp mod">
        <pc:chgData name="Ivy Li" userId="e5d6e31d-e508-4d5d-b95b-b5ccfc06586d" providerId="ADAL" clId="{CF9C9CE5-3EBD-5C25-BC86-14BDD414BE6B}" dt="2025-12-31T08:38:56.098" v="4" actId="403"/>
        <pc:sldMkLst>
          <pc:docMk/>
          <pc:sldMk cId="2674630905" sldId="260"/>
        </pc:sldMkLst>
        <pc:spChg chg="mod">
          <ac:chgData name="Ivy Li" userId="e5d6e31d-e508-4d5d-b95b-b5ccfc06586d" providerId="ADAL" clId="{CF9C9CE5-3EBD-5C25-BC86-14BDD414BE6B}" dt="2025-12-31T08:38:51.793" v="2" actId="403"/>
          <ac:spMkLst>
            <pc:docMk/>
            <pc:sldMk cId="2674630905" sldId="260"/>
            <ac:spMk id="6" creationId="{A4C927A9-FEC5-4C36-83CE-EAAABE0B5D32}"/>
          </ac:spMkLst>
        </pc:spChg>
        <pc:spChg chg="mod">
          <ac:chgData name="Ivy Li" userId="e5d6e31d-e508-4d5d-b95b-b5ccfc06586d" providerId="ADAL" clId="{CF9C9CE5-3EBD-5C25-BC86-14BDD414BE6B}" dt="2025-12-31T08:38:47.492" v="0" actId="403"/>
          <ac:spMkLst>
            <pc:docMk/>
            <pc:sldMk cId="2674630905" sldId="260"/>
            <ac:spMk id="7" creationId="{70DD56D8-815C-44EC-BCA5-0E46868C05A3}"/>
          </ac:spMkLst>
        </pc:spChg>
        <pc:spChg chg="mod">
          <ac:chgData name="Ivy Li" userId="e5d6e31d-e508-4d5d-b95b-b5ccfc06586d" providerId="ADAL" clId="{CF9C9CE5-3EBD-5C25-BC86-14BDD414BE6B}" dt="2025-12-31T08:38:49.565" v="1" actId="403"/>
          <ac:spMkLst>
            <pc:docMk/>
            <pc:sldMk cId="2674630905" sldId="260"/>
            <ac:spMk id="15" creationId="{A0AFDFDD-627A-0630-56AB-950AB341CEA9}"/>
          </ac:spMkLst>
        </pc:spChg>
        <pc:spChg chg="mod">
          <ac:chgData name="Ivy Li" userId="e5d6e31d-e508-4d5d-b95b-b5ccfc06586d" providerId="ADAL" clId="{CF9C9CE5-3EBD-5C25-BC86-14BDD414BE6B}" dt="2025-12-31T08:38:56.098" v="4" actId="403"/>
          <ac:spMkLst>
            <pc:docMk/>
            <pc:sldMk cId="2674630905" sldId="260"/>
            <ac:spMk id="20" creationId="{62FD2F16-1D28-1B1C-604D-D6F391A38B76}"/>
          </ac:spMkLst>
        </pc:spChg>
        <pc:spChg chg="mod">
          <ac:chgData name="Ivy Li" userId="e5d6e31d-e508-4d5d-b95b-b5ccfc06586d" providerId="ADAL" clId="{CF9C9CE5-3EBD-5C25-BC86-14BDD414BE6B}" dt="2025-12-31T08:38:53.772" v="3" actId="403"/>
          <ac:spMkLst>
            <pc:docMk/>
            <pc:sldMk cId="2674630905" sldId="260"/>
            <ac:spMk id="45" creationId="{E2FF67CF-BC37-AED0-A235-6D7C450D70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169D-CC1D-B934-FAA8-D257EFD65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A6490-1453-A5AB-A246-37FE38FB5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1CFCF-E5DC-D898-726B-6D0F3669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C7269-05BC-1A5D-CDB2-8AF364C0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EE8C-F983-C8CB-87B6-D225E3F6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9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53FE-735E-272F-A0D2-8751D975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38C6-C5D5-0191-FC73-C34DAD736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E27C-BFA1-BA7D-0429-AD3E3A03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6062-BFDA-62E1-7292-D9588230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16B17-7CC3-546A-FB07-5FBEFA76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6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7C96-74FE-8B02-6F9D-FB84B082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71E79-7098-6719-DE12-EAA825D9C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68F7-D690-8CE2-2EDB-86F741F3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66CD5-68C9-807B-C514-7A7184ED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C3B53-B77B-3C98-A75F-5785688E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3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6A3D-C887-A3BE-C3A0-BEB83819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2ECC-8B2C-F830-F894-28196535A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2CE36-6830-4296-9B0F-EAFEB557D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F2F39-63C2-62C9-DD32-516F6E12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C880-4967-E64B-0205-F9DEA337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310F7-234D-0EF5-F964-9BE57B84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7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6587-012D-7F6A-68D0-D3369D78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7736D-4AD5-C654-B17E-718B6FE8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FB2AE-E5CA-D5C8-D8FC-524A19BF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D6C3F-04C7-6F5C-395A-4D48CEABD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B5BBAF-BE93-C8E6-FE3A-DEC05F7D2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6BF2B-137B-E33F-5CF2-0E8E9EC1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75CDA-DE43-E93C-3359-9871A3DC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54666-1918-7F54-0220-C414136E3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4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CA73-3F1E-21B6-E315-B7C753F6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9D10F-B16B-82C0-5844-286E8DFE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4CB42F-FD30-FBAC-71FF-3AFB516D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B413C-F801-B9AD-0B56-E86CE863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4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20388-FEF5-D96E-E6BA-AD421A60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43D994-F5AF-3B92-4CFA-97E3A662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8612D-DFF2-B49B-4F0C-38266C2F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5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8406-66A5-1882-F242-C63AAB9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CD0D-0D80-35F8-3D36-C42F9FCAC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3428D-0140-6D86-EDE8-972694BB9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99691-EC32-866E-9AFF-2B95AE0A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161C7-0814-8F80-F10E-190E721D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9420-D101-69A4-12F1-8C8B75A8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61F9-1F28-BE81-89A8-5351BB38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4B51B-5F3A-B6B1-8A1A-F66395103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5FF68-B471-C75B-BC7C-C259FA59E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B0E61-3880-0552-E793-C57ADDE0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15911-6036-77A2-DAC8-CC544952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32302-123C-B605-26BA-74ED3C49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7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DC2A5-5869-4D34-126F-53DDD4B7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78B20-EAA8-FDBA-3252-26C086D26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06E39-3A65-028B-6E6B-11F2AD34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CB918-6D29-2AF5-6244-FB4683C6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8B10D-CABC-AB8C-7A8B-5FE7489B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9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A6DD7-C335-38F7-5746-D538AEAE9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85E71-3256-3993-F21A-417BF36B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EC79F-D7F0-2C51-ACD2-78F18968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31492-0A75-23F8-1527-050718BC7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A223E-A846-1EC9-D7AF-D25CB5A0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2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1818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37254-4B96-6B94-D1F6-7159AEB8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FD6A-F327-38AC-E761-A099EB67E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BA646-83F2-45E0-04FE-6D2E1AFFD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238AC-5BBD-4896-834F-261AD866C722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4CD-8723-F55B-1BCD-D0774DEA8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F2AD8-07F3-F3AD-D216-C4795EC4D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B939B-F66B-4679-813B-63966EA54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80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257128-51BB-9C15-A5A0-7E0F2BA2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5355"/>
            <a:ext cx="4900166" cy="550856"/>
          </a:xfrm>
        </p:spPr>
        <p:txBody>
          <a:bodyPr/>
          <a:lstStyle/>
          <a:p>
            <a:r>
              <a:rPr lang="en-US" sz="1650" dirty="0">
                <a:latin typeface="Calibri" panose="020F0502020204030204" pitchFamily="34" charset="0"/>
                <a:cs typeface="Calibri" panose="020F0502020204030204" pitchFamily="34" charset="0"/>
              </a:rPr>
              <a:t>Enabling digital-first, transparent &amp; seamless E2E workflow recruitment process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C927A9-FEC5-4C36-83CE-EAAABE0B5D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34636" y="446114"/>
            <a:ext cx="4897495" cy="1782026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noProof="0" dirty="0"/>
              <a:t>Solution </a:t>
            </a:r>
            <a:r>
              <a:rPr lang="en-US" sz="1200" dirty="0"/>
              <a:t>[Agency Recruitment Digital Platform]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M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ulti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-persona login &amp; RBAC 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Online application in prospect’s view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 err="1">
                <a:solidFill>
                  <a:srgbClr val="222222"/>
                </a:solidFill>
                <a:latin typeface="Calibri"/>
              </a:rPr>
              <a:t>Centralised</a:t>
            </a:r>
            <a:r>
              <a:rPr lang="en-US" sz="1000" b="0" dirty="0">
                <a:solidFill>
                  <a:srgbClr val="222222"/>
                </a:solidFill>
                <a:latin typeface="Calibri"/>
              </a:rPr>
              <a:t> prospect &amp; application management in hiring manager’s view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Prospecting event and activities organization in recruiter’s view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Seamless reviewing and approving workflow in operation’s review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Contract generation/uploading and e-signature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Data pipeline and analytics dashboard</a:t>
            </a:r>
          </a:p>
          <a:p>
            <a:pPr marL="182880" marR="0" lvl="0" indent="-18288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Event-triggered notification and SLA</a:t>
            </a:r>
          </a:p>
        </p:txBody>
      </p:sp>
      <p:sp>
        <p:nvSpPr>
          <p:cNvPr id="7" name="Shape 610">
            <a:extLst>
              <a:ext uri="{FF2B5EF4-FFF2-40B4-BE49-F238E27FC236}">
                <a16:creationId xmlns:a16="http://schemas.microsoft.com/office/drawing/2014/main" id="{70DD56D8-815C-44EC-BCA5-0E46868C05A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571518" y="1611115"/>
            <a:ext cx="4785848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p14="http://schemas.microsoft.com/office/powerpoint/2010/main" xmlns:a14="http://schemas.microsoft.com/office/drawing/2010/main" xmlns:a16="http://schemas.microsoft.com/office/drawing/2014/main" val="1"/>
            </a:ext>
          </a:extLst>
        </p:spPr>
        <p:txBody>
          <a:bodyPr wrap="square" lIns="0" tIns="0" rIns="0" bIns="0" anchor="t">
            <a:spAutoFit/>
          </a:bodyPr>
          <a:lstStyle>
            <a:lvl1pPr marL="243834" indent="-243834" algn="l" defTabSz="1219170" rtl="0" eaLnBrk="1" latinLnBrk="0" hangingPunct="1">
              <a:buClr>
                <a:schemeClr val="accent2"/>
              </a:buClr>
              <a:buFont typeface="Arial" panose="020B0604020202020204" pitchFamily="34" charset="0"/>
              <a:buChar char="•"/>
            </a:lvl1pPr>
            <a:lvl2pPr marL="243834" indent="-243834" algn="l" defTabSz="1219170" rtl="0" eaLnBrk="1" latinLnBrk="0" hangingPunct="1">
              <a:buClr>
                <a:schemeClr val="accent2"/>
              </a:buClr>
              <a:buFont typeface="Arial" panose="020B0604020202020204" pitchFamily="34" charset="0"/>
              <a:buChar char="•"/>
            </a:lvl2pPr>
            <a:lvl3pPr marL="457189" indent="-220128" algn="l" defTabSz="1219170" rtl="0" eaLnBrk="1" latinLnBrk="0" hangingPunct="1">
              <a:buClr>
                <a:schemeClr val="tx2"/>
              </a:buClr>
              <a:buFont typeface="Calibri" panose="020F0502020204030204" pitchFamily="34" charset="0"/>
              <a:buChar char="-"/>
            </a:lvl3pPr>
            <a:lvl4pPr marL="2209745" indent="-380990" algn="l" defTabSz="1219170" rtl="0" eaLnBrk="1" latinLnBrk="0" hangingPunct="1">
              <a:buFont typeface="Arial" panose="020B0604020202020204" pitchFamily="34" charset="0"/>
              <a:buChar char="•"/>
            </a:lvl4pPr>
            <a:lvl5pPr marL="3352716" indent="-304792" algn="l" defTabSz="1219170" rtl="0" eaLnBrk="1" latinLnBrk="0" hangingPunct="1">
              <a:buFont typeface="Arial" panose="020B0604020202020204" pitchFamily="34" charset="0"/>
              <a:buChar char="•"/>
            </a:lvl5pPr>
            <a:lvl6pPr marL="3352716" indent="-304792" algn="l" defTabSz="1219170" rtl="0" eaLnBrk="1" latinLnBrk="0" hangingPunct="1">
              <a:buFont typeface="Arial" panose="020B0604020202020204" pitchFamily="34" charset="0"/>
              <a:buChar char="•"/>
            </a:lvl6pPr>
            <a:lvl7pPr marL="3962301" indent="-304792" algn="l" defTabSz="1219170" rtl="0" eaLnBrk="1" latinLnBrk="0" hangingPunct="1">
              <a:buFont typeface="Arial" panose="020B0604020202020204" pitchFamily="34" charset="0"/>
              <a:buChar char="•"/>
            </a:lvl7pPr>
            <a:lvl8pPr marL="4571886" indent="-304792" algn="l" defTabSz="1219170" rtl="0" eaLnBrk="1" latinLnBrk="0" hangingPunct="1">
              <a:buFont typeface="Arial" panose="020B0604020202020204" pitchFamily="34" charset="0"/>
              <a:buChar char="•"/>
            </a:lvl8pPr>
            <a:lvl9pPr marL="5181470" indent="-304792" algn="l" defTabSz="1219170" rtl="0" eaLnBrk="1" latinLnBrk="0" hangingPunct="1"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304784" rtl="0" eaLnBrk="1" fontAlgn="auto" latinLnBrk="0" hangingPunct="1">
              <a:spcAft>
                <a:spcPts val="600"/>
              </a:spcAft>
              <a:buClr>
                <a:srgbClr val="39C2D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Goal</a:t>
            </a:r>
          </a:p>
          <a:p>
            <a:pPr marL="0" marR="0" lvl="0" indent="0" algn="l" defTabSz="6858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FTLife</a:t>
            </a:r>
            <a:r>
              <a:rPr lang="en-US" sz="10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 leading life insurance provider in Hong Kong and Macau, has identified a strategic opportunity to expand its operations into mainland China. To successfully penetrate this high-growth market, </a:t>
            </a:r>
            <a:r>
              <a:rPr lang="en-US" sz="1000" dirty="0" err="1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FTLife</a:t>
            </a:r>
            <a:r>
              <a:rPr lang="en-US" sz="10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aims to significantly increase its agent network across the Greater China region with a target of recruiting 1,000 new agents by FY25.</a:t>
            </a:r>
          </a:p>
          <a:p>
            <a:pPr marL="0" marR="0" lvl="0" indent="0" algn="l" defTabSz="6858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8DDD009-16BD-345A-AD07-66C9316FA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458798"/>
              </p:ext>
            </p:extLst>
          </p:nvPr>
        </p:nvGraphicFramePr>
        <p:xfrm>
          <a:off x="571518" y="3796329"/>
          <a:ext cx="5176341" cy="2113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28109477"/>
                    </a:ext>
                  </a:extLst>
                </a:gridCol>
                <a:gridCol w="1061123">
                  <a:extLst>
                    <a:ext uri="{9D8B030D-6E8A-4147-A177-3AD203B41FA5}">
                      <a16:colId xmlns:a16="http://schemas.microsoft.com/office/drawing/2014/main" val="991335792"/>
                    </a:ext>
                  </a:extLst>
                </a:gridCol>
                <a:gridCol w="1906159">
                  <a:extLst>
                    <a:ext uri="{9D8B030D-6E8A-4147-A177-3AD203B41FA5}">
                      <a16:colId xmlns:a16="http://schemas.microsoft.com/office/drawing/2014/main" val="156757121"/>
                    </a:ext>
                  </a:extLst>
                </a:gridCol>
                <a:gridCol w="1889019">
                  <a:extLst>
                    <a:ext uri="{9D8B030D-6E8A-4147-A177-3AD203B41FA5}">
                      <a16:colId xmlns:a16="http://schemas.microsoft.com/office/drawing/2014/main" val="1889393277"/>
                    </a:ext>
                  </a:extLst>
                </a:gridCol>
              </a:tblGrid>
              <a:tr h="214975">
                <a:tc gridSpan="2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rgbClr val="0091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AS-IS</a:t>
                      </a:r>
                    </a:p>
                  </a:txBody>
                  <a:tcPr>
                    <a:solidFill>
                      <a:srgbClr val="0091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TO-BE</a:t>
                      </a:r>
                    </a:p>
                  </a:txBody>
                  <a:tcPr>
                    <a:solidFill>
                      <a:srgbClr val="009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899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900" dirty="0"/>
                        <a:t>Overview</a:t>
                      </a:r>
                    </a:p>
                  </a:txBody>
                  <a:tcPr>
                    <a:solidFill>
                      <a:srgbClr val="0091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Paper recruitment, manual workflow and high human touch, resulting in lacking transparency and slow agent conversion</a:t>
                      </a:r>
                      <a:endParaRPr lang="en-US" sz="1400" dirty="0">
                        <a:solidFill>
                          <a:srgbClr val="222222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CDEA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Fully digitalized journey, seamless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cros</a:t>
                      </a: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s-team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collaboration, centralized dashboard, leading to shorter turn-around-time (TAT)</a:t>
                      </a:r>
                      <a:endParaRPr lang="en-US" sz="1400" dirty="0">
                        <a:solidFill>
                          <a:srgbClr val="222222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CD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33587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Breakdown</a:t>
                      </a:r>
                    </a:p>
                  </a:txBody>
                  <a:tcPr vert="vert270">
                    <a:solidFill>
                      <a:srgbClr val="0091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Front</a:t>
                      </a:r>
                    </a:p>
                    <a:p>
                      <a:r>
                        <a:rPr lang="en-US" sz="900" dirty="0"/>
                        <a:t>(Lead/Prospect)</a:t>
                      </a:r>
                    </a:p>
                  </a:txBody>
                  <a:tcPr>
                    <a:solidFill>
                      <a:srgbClr val="DD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Narrowed &amp; limited prospecting pipeline</a:t>
                      </a:r>
                    </a:p>
                  </a:txBody>
                  <a:tcPr anchor="ctr">
                    <a:solidFill>
                      <a:srgbClr val="DD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Widen lead and prospecting pipeline with digital footprint</a:t>
                      </a:r>
                    </a:p>
                  </a:txBody>
                  <a:tcPr anchor="ctr">
                    <a:solidFill>
                      <a:srgbClr val="DD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332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Middle</a:t>
                      </a:r>
                    </a:p>
                    <a:p>
                      <a:r>
                        <a:rPr lang="en-US" sz="900" dirty="0"/>
                        <a:t>(Onboarding)</a:t>
                      </a:r>
                      <a:endParaRPr lang="en-US" dirty="0"/>
                    </a:p>
                  </a:txBody>
                  <a:tcPr>
                    <a:solidFill>
                      <a:srgbClr val="C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Isolated processes and different platforms/tools used by teams</a:t>
                      </a:r>
                    </a:p>
                  </a:txBody>
                  <a:tcPr anchor="ctr">
                    <a:solidFill>
                      <a:srgbClr val="C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Streamlined digital onboarding and operation experience</a:t>
                      </a:r>
                    </a:p>
                  </a:txBody>
                  <a:tcPr anchor="ctr">
                    <a:solidFill>
                      <a:srgbClr val="CD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033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Back</a:t>
                      </a:r>
                    </a:p>
                    <a:p>
                      <a:r>
                        <a:rPr lang="en-US" sz="900" dirty="0"/>
                        <a:t>(Review, agent code creation)</a:t>
                      </a:r>
                      <a:endParaRPr lang="en-US" dirty="0"/>
                    </a:p>
                  </a:txBody>
                  <a:tcPr>
                    <a:solidFill>
                      <a:srgbClr val="DD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Long lead time causing drop-offs</a:t>
                      </a:r>
                    </a:p>
                  </a:txBody>
                  <a:tcPr anchor="ctr">
                    <a:solidFill>
                      <a:srgbClr val="DD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Automated process, shortened lead time and improved experience</a:t>
                      </a:r>
                    </a:p>
                  </a:txBody>
                  <a:tcPr anchor="ctr">
                    <a:solidFill>
                      <a:srgbClr val="DD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60472"/>
                  </a:ext>
                </a:extLst>
              </a:tr>
            </a:tbl>
          </a:graphicData>
        </a:graphic>
      </p:graphicFrame>
      <p:sp>
        <p:nvSpPr>
          <p:cNvPr id="15" name="Shape 610">
            <a:extLst>
              <a:ext uri="{FF2B5EF4-FFF2-40B4-BE49-F238E27FC236}">
                <a16:creationId xmlns:a16="http://schemas.microsoft.com/office/drawing/2014/main" id="{A0AFDFDD-627A-0630-56AB-950AB341CEA9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518" y="2615540"/>
            <a:ext cx="4785848" cy="118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p14="http://schemas.microsoft.com/office/powerpoint/2010/main" xmlns:a14="http://schemas.microsoft.com/office/drawing/2010/main" xmlns:a16="http://schemas.microsoft.com/office/drawing/2014/main" val="1"/>
            </a:ext>
          </a:extLst>
        </p:spPr>
        <p:txBody>
          <a:bodyPr wrap="square" lIns="0" tIns="0" rIns="0" bIns="0" anchor="t">
            <a:spAutoFit/>
          </a:bodyPr>
          <a:lstStyle>
            <a:lvl1pPr marL="243834" indent="-243834" algn="l" defTabSz="1219170" rtl="0" eaLnBrk="1" latinLnBrk="0" hangingPunct="1">
              <a:buClr>
                <a:schemeClr val="accent2"/>
              </a:buClr>
              <a:buFont typeface="Arial" panose="020B0604020202020204" pitchFamily="34" charset="0"/>
              <a:buChar char="•"/>
            </a:lvl1pPr>
            <a:lvl2pPr marL="243834" indent="-243834" algn="l" defTabSz="1219170" rtl="0" eaLnBrk="1" latinLnBrk="0" hangingPunct="1">
              <a:buClr>
                <a:schemeClr val="accent2"/>
              </a:buClr>
              <a:buFont typeface="Arial" panose="020B0604020202020204" pitchFamily="34" charset="0"/>
              <a:buChar char="•"/>
            </a:lvl2pPr>
            <a:lvl3pPr marL="457189" indent="-220128" algn="l" defTabSz="1219170" rtl="0" eaLnBrk="1" latinLnBrk="0" hangingPunct="1">
              <a:buClr>
                <a:schemeClr val="tx2"/>
              </a:buClr>
              <a:buFont typeface="Calibri" panose="020F0502020204030204" pitchFamily="34" charset="0"/>
              <a:buChar char="-"/>
            </a:lvl3pPr>
            <a:lvl4pPr marL="2209745" indent="-380990" algn="l" defTabSz="1219170" rtl="0" eaLnBrk="1" latinLnBrk="0" hangingPunct="1">
              <a:buFont typeface="Arial" panose="020B0604020202020204" pitchFamily="34" charset="0"/>
              <a:buChar char="•"/>
            </a:lvl4pPr>
            <a:lvl5pPr marL="3352716" indent="-304792" algn="l" defTabSz="1219170" rtl="0" eaLnBrk="1" latinLnBrk="0" hangingPunct="1">
              <a:buFont typeface="Arial" panose="020B0604020202020204" pitchFamily="34" charset="0"/>
              <a:buChar char="•"/>
            </a:lvl5pPr>
            <a:lvl6pPr marL="3352716" indent="-304792" algn="l" defTabSz="1219170" rtl="0" eaLnBrk="1" latinLnBrk="0" hangingPunct="1">
              <a:buFont typeface="Arial" panose="020B0604020202020204" pitchFamily="34" charset="0"/>
              <a:buChar char="•"/>
            </a:lvl6pPr>
            <a:lvl7pPr marL="3962301" indent="-304792" algn="l" defTabSz="1219170" rtl="0" eaLnBrk="1" latinLnBrk="0" hangingPunct="1">
              <a:buFont typeface="Arial" panose="020B0604020202020204" pitchFamily="34" charset="0"/>
              <a:buChar char="•"/>
            </a:lvl7pPr>
            <a:lvl8pPr marL="4571886" indent="-304792" algn="l" defTabSz="1219170" rtl="0" eaLnBrk="1" latinLnBrk="0" hangingPunct="1">
              <a:buFont typeface="Arial" panose="020B0604020202020204" pitchFamily="34" charset="0"/>
              <a:buChar char="•"/>
            </a:lvl8pPr>
            <a:lvl9pPr marL="5181470" indent="-304792" algn="l" defTabSz="1219170" rtl="0" eaLnBrk="1" latinLnBrk="0" hangingPunct="1"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304784" rtl="0" eaLnBrk="1" fontAlgn="auto" latinLnBrk="0" hangingPunct="1">
              <a:spcBef>
                <a:spcPts val="600"/>
              </a:spcBef>
              <a:spcAft>
                <a:spcPts val="600"/>
              </a:spcAft>
              <a:buClr>
                <a:srgbClr val="39C2D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Objectives</a:t>
            </a:r>
          </a:p>
          <a:p>
            <a:pPr marL="182880" indent="-182880" defTabSz="685800">
              <a:spcBef>
                <a:spcPts val="300"/>
              </a:spcBef>
              <a:buClrTx/>
              <a:defRPr/>
            </a:pPr>
            <a:r>
              <a:rPr lang="en-US" sz="1000" dirty="0" err="1">
                <a:solidFill>
                  <a:srgbClr val="222222"/>
                </a:solidFill>
                <a:latin typeface="Calibri"/>
              </a:rPr>
              <a:t>Digitalise</a:t>
            </a:r>
            <a:r>
              <a:rPr lang="en-US" sz="1000" dirty="0">
                <a:solidFill>
                  <a:srgbClr val="222222"/>
                </a:solidFill>
                <a:latin typeface="Calibri"/>
              </a:rPr>
              <a:t> the full prospect &amp; recruitment pipeline</a:t>
            </a:r>
          </a:p>
          <a:p>
            <a:pPr marL="182880" indent="-182880" defTabSz="685800">
              <a:spcBef>
                <a:spcPts val="300"/>
              </a:spcBef>
              <a:buClrTx/>
              <a:defRPr/>
            </a:pPr>
            <a:r>
              <a:rPr lang="en-US" sz="1000" dirty="0">
                <a:solidFill>
                  <a:srgbClr val="222222"/>
                </a:solidFill>
                <a:latin typeface="Calibri"/>
              </a:rPr>
              <a:t>Integrate with subsystems to automate backend/operation processes </a:t>
            </a:r>
          </a:p>
          <a:p>
            <a:pPr marL="182880" indent="-182880" defTabSz="685800">
              <a:spcBef>
                <a:spcPts val="300"/>
              </a:spcBef>
              <a:buClrTx/>
              <a:defRPr/>
            </a:pPr>
            <a:r>
              <a:rPr lang="en-US" sz="1000" dirty="0">
                <a:solidFill>
                  <a:srgbClr val="222222"/>
                </a:solidFill>
                <a:latin typeface="Calibri"/>
              </a:rPr>
              <a:t>Introduce recruitment performance dashboard</a:t>
            </a:r>
          </a:p>
          <a:p>
            <a:pPr marL="182880" indent="-182880" defTabSz="685800">
              <a:spcBef>
                <a:spcPts val="300"/>
              </a:spcBef>
              <a:buClrTx/>
              <a:defRPr/>
            </a:pPr>
            <a:r>
              <a:rPr lang="en-US" sz="1000" dirty="0" err="1">
                <a:solidFill>
                  <a:srgbClr val="222222"/>
                </a:solidFill>
                <a:latin typeface="Calibri"/>
              </a:rPr>
              <a:t>Centralise</a:t>
            </a:r>
            <a:r>
              <a:rPr lang="en-US" sz="1000" dirty="0">
                <a:solidFill>
                  <a:srgbClr val="222222"/>
                </a:solidFill>
                <a:latin typeface="Calibri"/>
              </a:rPr>
              <a:t> prospect management </a:t>
            </a:r>
          </a:p>
          <a:p>
            <a:pPr defTabSz="685800">
              <a:spcAft>
                <a:spcPts val="600"/>
              </a:spcAft>
              <a:buClrTx/>
              <a:defRPr/>
            </a:pPr>
            <a:endParaRPr lang="en-US" sz="10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2FD2F16-1D28-1B1C-604D-D6F391A38B76}"/>
              </a:ext>
            </a:extLst>
          </p:cNvPr>
          <p:cNvSpPr txBox="1">
            <a:spLocks/>
          </p:cNvSpPr>
          <p:nvPr/>
        </p:nvSpPr>
        <p:spPr>
          <a:xfrm>
            <a:off x="6845227" y="4991675"/>
            <a:ext cx="4969309" cy="126650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dirty="0"/>
              <a:t>KPIs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Prospect conversion rate (geo/time-measured)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Number of registered prospective agents (geo/time-measured)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Lead time from registration till onboarding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Turnaround time for reviewing and approving application and contracting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Proportion of recruitment with high educational background</a:t>
            </a:r>
          </a:p>
          <a:p>
            <a:pPr>
              <a:spcBef>
                <a:spcPts val="0"/>
              </a:spcBef>
            </a:pPr>
            <a:endParaRPr lang="en-US" sz="1000" b="0" dirty="0">
              <a:solidFill>
                <a:srgbClr val="222222"/>
              </a:solidFill>
              <a:latin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CECDCB7-3543-C052-1313-4509AE5F0A4B}"/>
              </a:ext>
            </a:extLst>
          </p:cNvPr>
          <p:cNvGrpSpPr/>
          <p:nvPr/>
        </p:nvGrpSpPr>
        <p:grpSpPr>
          <a:xfrm>
            <a:off x="6705510" y="2379123"/>
            <a:ext cx="4955050" cy="1569485"/>
            <a:chOff x="6665432" y="2672204"/>
            <a:chExt cx="4955050" cy="156948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440CCE4-DA12-67F3-292F-C996CFDB3DA3}"/>
                </a:ext>
              </a:extLst>
            </p:cNvPr>
            <p:cNvGrpSpPr/>
            <p:nvPr/>
          </p:nvGrpSpPr>
          <p:grpSpPr>
            <a:xfrm>
              <a:off x="6665432" y="2672204"/>
              <a:ext cx="4955050" cy="979278"/>
              <a:chOff x="6923683" y="2465995"/>
              <a:chExt cx="4955050" cy="97927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3BAA914-55FA-F802-141A-AE9519AEDE1F}"/>
                  </a:ext>
                </a:extLst>
              </p:cNvPr>
              <p:cNvSpPr/>
              <p:nvPr/>
            </p:nvSpPr>
            <p:spPr>
              <a:xfrm>
                <a:off x="6923683" y="2839704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Prospecting</a:t>
                </a:r>
                <a:endParaRPr lang="en-US" sz="90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36856DF-C36E-6D82-1706-D7F0DF888475}"/>
                  </a:ext>
                </a:extLst>
              </p:cNvPr>
              <p:cNvSpPr/>
              <p:nvPr/>
            </p:nvSpPr>
            <p:spPr>
              <a:xfrm>
                <a:off x="7857067" y="2839703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Sign-up</a:t>
                </a:r>
                <a:endParaRPr lang="en-US" sz="9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BB273E4-D8E4-43B8-5C3F-89F3B6A7F94D}"/>
                  </a:ext>
                </a:extLst>
              </p:cNvPr>
              <p:cNvSpPr/>
              <p:nvPr/>
            </p:nvSpPr>
            <p:spPr>
              <a:xfrm>
                <a:off x="8790451" y="2839703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Application</a:t>
                </a:r>
                <a:endParaRPr lang="en-US" sz="900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DF83249-5943-5348-7E18-1604D19AE92D}"/>
                  </a:ext>
                </a:extLst>
              </p:cNvPr>
              <p:cNvSpPr/>
              <p:nvPr/>
            </p:nvSpPr>
            <p:spPr>
              <a:xfrm>
                <a:off x="9723835" y="2839703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Agent’s Contract</a:t>
                </a:r>
                <a:endParaRPr lang="en-US" sz="9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1725CCB-DFEE-A364-47D3-1371C68D8D45}"/>
                  </a:ext>
                </a:extLst>
              </p:cNvPr>
              <p:cNvSpPr/>
              <p:nvPr/>
            </p:nvSpPr>
            <p:spPr>
              <a:xfrm>
                <a:off x="8790451" y="2465995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Background check</a:t>
                </a:r>
                <a:endParaRPr lang="en-US" sz="9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5F07947-F766-5248-45B8-5DD76078FB57}"/>
                  </a:ext>
                </a:extLst>
              </p:cNvPr>
              <p:cNvSpPr/>
              <p:nvPr/>
            </p:nvSpPr>
            <p:spPr>
              <a:xfrm>
                <a:off x="8790451" y="3207546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Offer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F27A44-F938-6DDC-B4FB-1EE25A6FDDDC}"/>
                  </a:ext>
                </a:extLst>
              </p:cNvPr>
              <p:cNvSpPr/>
              <p:nvPr/>
            </p:nvSpPr>
            <p:spPr>
              <a:xfrm>
                <a:off x="9723835" y="3207546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Side Agreement</a:t>
                </a:r>
                <a:endParaRPr lang="en-US" sz="900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372E14B-C7D9-3F64-A64D-891EC3E70C0E}"/>
                  </a:ext>
                </a:extLst>
              </p:cNvPr>
              <p:cNvSpPr/>
              <p:nvPr/>
            </p:nvSpPr>
            <p:spPr>
              <a:xfrm>
                <a:off x="10657219" y="2839702"/>
                <a:ext cx="780984" cy="237727"/>
              </a:xfrm>
              <a:prstGeom prst="rect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/>
                  <a:t>Agent code</a:t>
                </a:r>
                <a:endParaRPr lang="en-US" sz="900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44BA2D4-38A3-E10B-77E3-F6F51D32C095}"/>
                  </a:ext>
                </a:extLst>
              </p:cNvPr>
              <p:cNvSpPr/>
              <p:nvPr/>
            </p:nvSpPr>
            <p:spPr>
              <a:xfrm>
                <a:off x="11641666" y="2839702"/>
                <a:ext cx="237067" cy="237727"/>
              </a:xfrm>
              <a:prstGeom prst="ellipse">
                <a:avLst/>
              </a:prstGeom>
              <a:solidFill>
                <a:srgbClr val="009188"/>
              </a:solidFill>
              <a:ln>
                <a:solidFill>
                  <a:srgbClr val="0091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row: Right 30">
                <a:extLst>
                  <a:ext uri="{FF2B5EF4-FFF2-40B4-BE49-F238E27FC236}">
                    <a16:creationId xmlns:a16="http://schemas.microsoft.com/office/drawing/2014/main" id="{4FE39D64-D862-6E56-09D5-A5DC3A24A0D6}"/>
                  </a:ext>
                </a:extLst>
              </p:cNvPr>
              <p:cNvSpPr/>
              <p:nvPr/>
            </p:nvSpPr>
            <p:spPr>
              <a:xfrm>
                <a:off x="7729554" y="2933901"/>
                <a:ext cx="102625" cy="493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FA6C5D4E-CE78-A979-FB90-58811E7286E5}"/>
                  </a:ext>
                </a:extLst>
              </p:cNvPr>
              <p:cNvSpPr/>
              <p:nvPr/>
            </p:nvSpPr>
            <p:spPr>
              <a:xfrm>
                <a:off x="8662938" y="2933901"/>
                <a:ext cx="102625" cy="493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642427C3-EE90-251C-08D8-C20178817E3B}"/>
                  </a:ext>
                </a:extLst>
              </p:cNvPr>
              <p:cNvSpPr/>
              <p:nvPr/>
            </p:nvSpPr>
            <p:spPr>
              <a:xfrm>
                <a:off x="9596322" y="2933901"/>
                <a:ext cx="102625" cy="493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Arrow: Right 33">
                <a:extLst>
                  <a:ext uri="{FF2B5EF4-FFF2-40B4-BE49-F238E27FC236}">
                    <a16:creationId xmlns:a16="http://schemas.microsoft.com/office/drawing/2014/main" id="{CCBEC536-6A70-3223-F23D-92E3ED7CD59C}"/>
                  </a:ext>
                </a:extLst>
              </p:cNvPr>
              <p:cNvSpPr/>
              <p:nvPr/>
            </p:nvSpPr>
            <p:spPr>
              <a:xfrm>
                <a:off x="10529706" y="2933901"/>
                <a:ext cx="102625" cy="493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6E2FD844-C828-D69D-EDB1-4D11BC8EB91B}"/>
                  </a:ext>
                </a:extLst>
              </p:cNvPr>
              <p:cNvSpPr/>
              <p:nvPr/>
            </p:nvSpPr>
            <p:spPr>
              <a:xfrm>
                <a:off x="11487978" y="2933901"/>
                <a:ext cx="102625" cy="493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229ED771-455B-BA93-D91D-71E8353FCCD5}"/>
                  </a:ext>
                </a:extLst>
              </p:cNvPr>
              <p:cNvSpPr/>
              <p:nvPr/>
            </p:nvSpPr>
            <p:spPr>
              <a:xfrm>
                <a:off x="9596322" y="3301745"/>
                <a:ext cx="102625" cy="493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5944887-1722-2B38-535E-93571C4347D5}"/>
                </a:ext>
              </a:extLst>
            </p:cNvPr>
            <p:cNvSpPr/>
            <p:nvPr/>
          </p:nvSpPr>
          <p:spPr>
            <a:xfrm>
              <a:off x="6690319" y="3733036"/>
              <a:ext cx="780984" cy="237727"/>
            </a:xfrm>
            <a:prstGeom prst="rect">
              <a:avLst/>
            </a:prstGeom>
            <a:solidFill>
              <a:srgbClr val="9AD4D1"/>
            </a:solidFill>
            <a:ln>
              <a:solidFill>
                <a:srgbClr val="9AD4D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tx1"/>
                  </a:solidFill>
                </a:rPr>
                <a:t>Notification/SLA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88F6F9B-ADC8-90A9-C0DA-E72A3AB41203}"/>
                </a:ext>
              </a:extLst>
            </p:cNvPr>
            <p:cNvSpPr/>
            <p:nvPr/>
          </p:nvSpPr>
          <p:spPr>
            <a:xfrm>
              <a:off x="6690319" y="4003962"/>
              <a:ext cx="780984" cy="237727"/>
            </a:xfrm>
            <a:prstGeom prst="rect">
              <a:avLst/>
            </a:prstGeom>
            <a:solidFill>
              <a:srgbClr val="9AD4D1"/>
            </a:solidFill>
            <a:ln>
              <a:solidFill>
                <a:srgbClr val="9AD4D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Dashboard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F9F305D-6303-94AA-03DE-498A22DD6EF2}"/>
                </a:ext>
              </a:extLst>
            </p:cNvPr>
            <p:cNvSpPr/>
            <p:nvPr/>
          </p:nvSpPr>
          <p:spPr>
            <a:xfrm>
              <a:off x="7506553" y="3733036"/>
              <a:ext cx="780984" cy="237727"/>
            </a:xfrm>
            <a:prstGeom prst="rect">
              <a:avLst/>
            </a:prstGeom>
            <a:solidFill>
              <a:srgbClr val="9AD4D1"/>
            </a:solidFill>
            <a:ln>
              <a:solidFill>
                <a:srgbClr val="9AD4D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Audit trial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0D683AF-617D-4E96-9F97-6482B8E9BC85}"/>
                </a:ext>
              </a:extLst>
            </p:cNvPr>
            <p:cNvSpPr/>
            <p:nvPr/>
          </p:nvSpPr>
          <p:spPr>
            <a:xfrm>
              <a:off x="7598816" y="2682388"/>
              <a:ext cx="780984" cy="237727"/>
            </a:xfrm>
            <a:prstGeom prst="rect">
              <a:avLst/>
            </a:prstGeom>
            <a:solidFill>
              <a:srgbClr val="009188"/>
            </a:solidFill>
            <a:ln>
              <a:solidFill>
                <a:srgbClr val="0091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/>
                <a:t>eKYC</a:t>
              </a:r>
              <a:endParaRPr lang="en-US" sz="9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1A48273-94BB-28CD-984F-2CED4A97D273}"/>
                </a:ext>
              </a:extLst>
            </p:cNvPr>
            <p:cNvSpPr/>
            <p:nvPr/>
          </p:nvSpPr>
          <p:spPr>
            <a:xfrm>
              <a:off x="7506553" y="4003962"/>
              <a:ext cx="780984" cy="237727"/>
            </a:xfrm>
            <a:prstGeom prst="rect">
              <a:avLst/>
            </a:prstGeom>
            <a:solidFill>
              <a:srgbClr val="9AD4D1"/>
            </a:solidFill>
            <a:ln>
              <a:solidFill>
                <a:srgbClr val="9AD4D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User mgmt.</a:t>
              </a:r>
            </a:p>
          </p:txBody>
        </p:sp>
      </p:grp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E2FF67CF-BC37-AED0-A235-6D7C450D7020}"/>
              </a:ext>
            </a:extLst>
          </p:cNvPr>
          <p:cNvSpPr txBox="1">
            <a:spLocks/>
          </p:cNvSpPr>
          <p:nvPr/>
        </p:nvSpPr>
        <p:spPr>
          <a:xfrm>
            <a:off x="6815272" y="4145012"/>
            <a:ext cx="2989601" cy="65864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dirty="0"/>
              <a:t>D</a:t>
            </a:r>
            <a:r>
              <a:rPr lang="en-US" altLang="zh-CN" sz="1200" dirty="0"/>
              <a:t>elivery Plan</a:t>
            </a:r>
          </a:p>
          <a:p>
            <a:pPr>
              <a:spcBef>
                <a:spcPts val="0"/>
              </a:spcBef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MVP1 – main recruitment activities/events</a:t>
            </a:r>
          </a:p>
          <a:p>
            <a:pPr>
              <a:spcBef>
                <a:spcPts val="0"/>
              </a:spcBef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MVP2 – complete recruitment journey</a:t>
            </a:r>
          </a:p>
          <a:p>
            <a:pPr>
              <a:spcBef>
                <a:spcPts val="0"/>
              </a:spcBef>
            </a:pPr>
            <a:r>
              <a:rPr lang="en-US" sz="1000" b="0" dirty="0">
                <a:solidFill>
                  <a:srgbClr val="222222"/>
                </a:solidFill>
                <a:latin typeface="Calibri"/>
              </a:rPr>
              <a:t>Phase 1 – wider system integration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3175994-C21C-6722-BB33-C7C45FF7B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18" y="298894"/>
            <a:ext cx="1428750" cy="314325"/>
          </a:xfrm>
          <a:prstGeom prst="rect">
            <a:avLst/>
          </a:prstGeom>
        </p:spPr>
      </p:pic>
      <p:pic>
        <p:nvPicPr>
          <p:cNvPr id="46" name="Picture 4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C2FF7E8-F463-25F4-F065-E92A5D5B27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92" t="31694" r="5026" b="34802"/>
          <a:stretch/>
        </p:blipFill>
        <p:spPr>
          <a:xfrm>
            <a:off x="601444" y="333997"/>
            <a:ext cx="1368898" cy="22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309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333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Enabling digital-first, transparent &amp; seamless E2E workflow recruitment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Ivy Li</dc:creator>
  <cp:lastModifiedBy>Ivy Li</cp:lastModifiedBy>
  <cp:revision>1</cp:revision>
  <dcterms:created xsi:type="dcterms:W3CDTF">2024-08-28T01:47:06Z</dcterms:created>
  <dcterms:modified xsi:type="dcterms:W3CDTF">2025-12-31T08:38:57Z</dcterms:modified>
</cp:coreProperties>
</file>