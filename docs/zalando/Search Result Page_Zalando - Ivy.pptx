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60" r:id="rId2"/>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1F0CB5-B03C-5743-AEB3-5952F24811DD}" v="9" dt="2025-12-31T09:37:36.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30"/>
  </p:normalViewPr>
  <p:slideViewPr>
    <p:cSldViewPr snapToGrid="0">
      <p:cViewPr>
        <p:scale>
          <a:sx n="116" d="100"/>
          <a:sy n="116" d="100"/>
        </p:scale>
        <p:origin x="608"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y Li" userId="e5d6e31d-e508-4d5d-b95b-b5ccfc06586d" providerId="ADAL" clId="{CF9C9CE5-3EBD-5C25-BC86-14BDD414BE6B}"/>
    <pc:docChg chg="custSel modSld">
      <pc:chgData name="Ivy Li" userId="e5d6e31d-e508-4d5d-b95b-b5ccfc06586d" providerId="ADAL" clId="{CF9C9CE5-3EBD-5C25-BC86-14BDD414BE6B}" dt="2025-12-31T09:37:39.824" v="1917" actId="5793"/>
      <pc:docMkLst>
        <pc:docMk/>
      </pc:docMkLst>
      <pc:sldChg chg="modSp mod">
        <pc:chgData name="Ivy Li" userId="e5d6e31d-e508-4d5d-b95b-b5ccfc06586d" providerId="ADAL" clId="{CF9C9CE5-3EBD-5C25-BC86-14BDD414BE6B}" dt="2025-12-31T09:37:39.824" v="1917" actId="5793"/>
        <pc:sldMkLst>
          <pc:docMk/>
          <pc:sldMk cId="2674630905" sldId="260"/>
        </pc:sldMkLst>
        <pc:spChg chg="mod">
          <ac:chgData name="Ivy Li" userId="e5d6e31d-e508-4d5d-b95b-b5ccfc06586d" providerId="ADAL" clId="{CF9C9CE5-3EBD-5C25-BC86-14BDD414BE6B}" dt="2025-12-31T09:29:17.620" v="825" actId="20577"/>
          <ac:spMkLst>
            <pc:docMk/>
            <pc:sldMk cId="2674630905" sldId="260"/>
            <ac:spMk id="4" creationId="{C0257128-51BB-9C15-A5A0-7E0F2BA28061}"/>
          </ac:spMkLst>
        </pc:spChg>
        <pc:spChg chg="mod">
          <ac:chgData name="Ivy Li" userId="e5d6e31d-e508-4d5d-b95b-b5ccfc06586d" providerId="ADAL" clId="{CF9C9CE5-3EBD-5C25-BC86-14BDD414BE6B}" dt="2025-12-31T09:36:43.564" v="1878" actId="20577"/>
          <ac:spMkLst>
            <pc:docMk/>
            <pc:sldMk cId="2674630905" sldId="260"/>
            <ac:spMk id="6" creationId="{A4C927A9-FEC5-4C36-83CE-EAAABE0B5D32}"/>
          </ac:spMkLst>
        </pc:spChg>
        <pc:spChg chg="mod">
          <ac:chgData name="Ivy Li" userId="e5d6e31d-e508-4d5d-b95b-b5ccfc06586d" providerId="ADAL" clId="{CF9C9CE5-3EBD-5C25-BC86-14BDD414BE6B}" dt="2025-12-31T09:36:46.440" v="1881" actId="20577"/>
          <ac:spMkLst>
            <pc:docMk/>
            <pc:sldMk cId="2674630905" sldId="260"/>
            <ac:spMk id="10" creationId="{64A199E1-B171-4995-B998-F3893DCC8086}"/>
          </ac:spMkLst>
        </pc:spChg>
        <pc:spChg chg="mod">
          <ac:chgData name="Ivy Li" userId="e5d6e31d-e508-4d5d-b95b-b5ccfc06586d" providerId="ADAL" clId="{CF9C9CE5-3EBD-5C25-BC86-14BDD414BE6B}" dt="2025-12-31T09:37:39.824" v="1917" actId="5793"/>
          <ac:spMkLst>
            <pc:docMk/>
            <pc:sldMk cId="2674630905" sldId="260"/>
            <ac:spMk id="11" creationId="{D12EFD7A-CE8A-41EC-B71C-D39ECBA057FE}"/>
          </ac:spMkLst>
        </pc:spChg>
        <pc:spChg chg="mod">
          <ac:chgData name="Ivy Li" userId="e5d6e31d-e508-4d5d-b95b-b5ccfc06586d" providerId="ADAL" clId="{CF9C9CE5-3EBD-5C25-BC86-14BDD414BE6B}" dt="2025-12-31T09:27:31.011" v="608" actId="20577"/>
          <ac:spMkLst>
            <pc:docMk/>
            <pc:sldMk cId="2674630905" sldId="260"/>
            <ac:spMk id="13" creationId="{53A62541-B871-D99A-FC8D-4219F804E289}"/>
          </ac:spMkLst>
        </pc:spChg>
        <pc:spChg chg="mod">
          <ac:chgData name="Ivy Li" userId="e5d6e31d-e508-4d5d-b95b-b5ccfc06586d" providerId="ADAL" clId="{CF9C9CE5-3EBD-5C25-BC86-14BDD414BE6B}" dt="2025-12-31T09:33:56.815" v="1517" actId="1076"/>
          <ac:spMkLst>
            <pc:docMk/>
            <pc:sldMk cId="2674630905" sldId="260"/>
            <ac:spMk id="14" creationId="{E9728561-17DA-5123-467F-F3F7861C7E26}"/>
          </ac:spMkLst>
        </pc:spChg>
        <pc:spChg chg="mod">
          <ac:chgData name="Ivy Li" userId="e5d6e31d-e508-4d5d-b95b-b5ccfc06586d" providerId="ADAL" clId="{CF9C9CE5-3EBD-5C25-BC86-14BDD414BE6B}" dt="2025-12-31T09:33:50.959" v="1516" actId="20577"/>
          <ac:spMkLst>
            <pc:docMk/>
            <pc:sldMk cId="2674630905" sldId="260"/>
            <ac:spMk id="15" creationId="{EF60CDB3-85AE-B6EE-C5FB-5E083345E7F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4EC940-AA52-4143-929B-9E2B03F6D9E8}" type="datetimeFigureOut">
              <a:rPr lang="en-CN" smtClean="0"/>
              <a:t>2025/12/31</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E43698-D68D-DA41-9B8D-7A9DB717F540}" type="slidenum">
              <a:rPr lang="en-CN" smtClean="0"/>
              <a:t>‹#›</a:t>
            </a:fld>
            <a:endParaRPr lang="en-CN"/>
          </a:p>
        </p:txBody>
      </p:sp>
    </p:spTree>
    <p:extLst>
      <p:ext uri="{BB962C8B-B14F-4D97-AF65-F5344CB8AC3E}">
        <p14:creationId xmlns:p14="http://schemas.microsoft.com/office/powerpoint/2010/main" val="2073559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9DE43698-D68D-DA41-9B8D-7A9DB717F540}" type="slidenum">
              <a:rPr lang="en-CN" smtClean="0"/>
              <a:t>1</a:t>
            </a:fld>
            <a:endParaRPr lang="en-CN"/>
          </a:p>
        </p:txBody>
      </p:sp>
    </p:spTree>
    <p:extLst>
      <p:ext uri="{BB962C8B-B14F-4D97-AF65-F5344CB8AC3E}">
        <p14:creationId xmlns:p14="http://schemas.microsoft.com/office/powerpoint/2010/main" val="3539338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968D-E150-5D34-AEBD-39DB59D36E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8DAF8F96-44EB-E36B-E11B-F0BBABA9F2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5E66BB30-1E09-8EAD-3EF9-C82187D8502C}"/>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5" name="Footer Placeholder 4">
            <a:extLst>
              <a:ext uri="{FF2B5EF4-FFF2-40B4-BE49-F238E27FC236}">
                <a16:creationId xmlns:a16="http://schemas.microsoft.com/office/drawing/2014/main" id="{9DBEA0C1-11E6-E67D-5E79-C23EAE26215F}"/>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B089F596-2599-E428-DCB0-0BD8ED11FC6B}"/>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4175545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3F91F-F039-9366-F0BD-BB86D1CB5138}"/>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BD502973-B701-38D5-8C69-D05C43C25C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BBA863B7-E275-4E8E-7CD2-5DE51211CCCD}"/>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5" name="Footer Placeholder 4">
            <a:extLst>
              <a:ext uri="{FF2B5EF4-FFF2-40B4-BE49-F238E27FC236}">
                <a16:creationId xmlns:a16="http://schemas.microsoft.com/office/drawing/2014/main" id="{9DB3B432-5BC3-3645-A525-42D350201D77}"/>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1CC278D-8E10-78E2-0EFD-BE3D9AF1EB30}"/>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1490459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80A2-F187-446D-D84C-F9D0ADA7CD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91CCF888-F0F2-7679-B06D-2084092214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145E19-BFC8-F1ED-91BC-D876A5C636C8}"/>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5" name="Footer Placeholder 4">
            <a:extLst>
              <a:ext uri="{FF2B5EF4-FFF2-40B4-BE49-F238E27FC236}">
                <a16:creationId xmlns:a16="http://schemas.microsoft.com/office/drawing/2014/main" id="{075FBB18-AED9-9C87-89C6-EB0F529D674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EAA0E160-C6F5-0826-DBF4-B93C6DA6EBA7}"/>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1361053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242C5-4BC6-7FDC-29EE-FEECD3C7B4B6}"/>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E6B78D7D-EDAD-0D4B-1442-B72ADB33FC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7A3745B0-E657-6048-48FB-5E44C8EE16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DBF7C18A-D0BF-5A2D-2CAB-D82605CDB092}"/>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6" name="Footer Placeholder 5">
            <a:extLst>
              <a:ext uri="{FF2B5EF4-FFF2-40B4-BE49-F238E27FC236}">
                <a16:creationId xmlns:a16="http://schemas.microsoft.com/office/drawing/2014/main" id="{4F101282-B7BD-8982-D826-DC31E74AD28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A6641B0C-02B1-8914-DE18-2C87DDF74D9C}"/>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2495042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A13A5-A4B5-28F3-9168-3387138FB369}"/>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7C2E6C09-92B2-8BA1-AF03-7825ACFF9A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F6EAB6-95BC-75B9-6442-C8B53FACC4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D98DDA39-E74B-54C9-5906-D54DF181B7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B568ED-51AC-BDCB-2991-00B300FC51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53079C12-8FC8-64FE-97DD-D0DA7AF79CB8}"/>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8" name="Footer Placeholder 7">
            <a:extLst>
              <a:ext uri="{FF2B5EF4-FFF2-40B4-BE49-F238E27FC236}">
                <a16:creationId xmlns:a16="http://schemas.microsoft.com/office/drawing/2014/main" id="{40188777-7925-4EB0-C037-423891FC0B41}"/>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DDAD9EC5-3827-65DF-6829-1507825ED7A4}"/>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4242420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17B66-5591-5BDC-603C-6C1E00825A70}"/>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174590D0-F78A-900A-B7B8-A172E055C2E7}"/>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4" name="Footer Placeholder 3">
            <a:extLst>
              <a:ext uri="{FF2B5EF4-FFF2-40B4-BE49-F238E27FC236}">
                <a16:creationId xmlns:a16="http://schemas.microsoft.com/office/drawing/2014/main" id="{D77164B1-9088-98F1-DAD3-9E6E80B4F484}"/>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A88EB410-3CEC-FC27-4D15-40D4F8F796A8}"/>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3217161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5E4DBD-3B4D-3487-5B74-4CDD979E2AD7}"/>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3" name="Footer Placeholder 2">
            <a:extLst>
              <a:ext uri="{FF2B5EF4-FFF2-40B4-BE49-F238E27FC236}">
                <a16:creationId xmlns:a16="http://schemas.microsoft.com/office/drawing/2014/main" id="{BED62BBB-6DB4-2740-D0BA-78D09559D6D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E5D0F307-1FA9-21CE-E072-D6ADF84D2E87}"/>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1659873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4C544-5789-9DB2-B198-A27400BACA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388C5ABD-2A52-400C-836A-415AD66E45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73219E25-4A06-DB1D-996D-3513CA56A2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817C3-ABA4-9206-0F16-24FDE53A90F1}"/>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6" name="Footer Placeholder 5">
            <a:extLst>
              <a:ext uri="{FF2B5EF4-FFF2-40B4-BE49-F238E27FC236}">
                <a16:creationId xmlns:a16="http://schemas.microsoft.com/office/drawing/2014/main" id="{33D20C23-5966-4416-E080-F35A59EA4052}"/>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2B936F85-6FA1-7D16-215F-EE6FD3011860}"/>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535352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ED2D8-1F14-9F42-3AE3-57C90FADD1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A4CD99CF-9B72-326C-A001-2364C25E99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07532969-2DDB-656D-8CBC-E670EC715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84EFCB-8B9A-A130-6C5F-96317B264878}"/>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6" name="Footer Placeholder 5">
            <a:extLst>
              <a:ext uri="{FF2B5EF4-FFF2-40B4-BE49-F238E27FC236}">
                <a16:creationId xmlns:a16="http://schemas.microsoft.com/office/drawing/2014/main" id="{A7C6454B-C913-8DF5-1EDF-2059BA9E0D86}"/>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780D824C-8D35-CC2C-4EAC-5C66B64671B2}"/>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2810082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10ED1-7B87-EF3F-FA54-95B5D67A4A63}"/>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A38D58D2-839E-EC2D-86FF-3C8D85C06A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856CEA8C-120E-9911-0997-268FEBAE831C}"/>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5" name="Footer Placeholder 4">
            <a:extLst>
              <a:ext uri="{FF2B5EF4-FFF2-40B4-BE49-F238E27FC236}">
                <a16:creationId xmlns:a16="http://schemas.microsoft.com/office/drawing/2014/main" id="{998ECBD0-E1D8-5819-10D0-D6BAC4634A02}"/>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87819796-C617-CF84-E910-E55B1701037B}"/>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3637287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35ADA2-ADE7-604B-5124-F6E0076140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15DBFDD6-FCFC-42C6-77E7-EC4FF8E117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4B768431-CFA7-FAF1-35CB-C9DD69C9599D}"/>
              </a:ext>
            </a:extLst>
          </p:cNvPr>
          <p:cNvSpPr>
            <a:spLocks noGrp="1"/>
          </p:cNvSpPr>
          <p:nvPr>
            <p:ph type="dt" sz="half" idx="10"/>
          </p:nvPr>
        </p:nvSpPr>
        <p:spPr/>
        <p:txBody>
          <a:bodyPr/>
          <a:lstStyle/>
          <a:p>
            <a:fld id="{EDFE3DE4-F0F1-4548-90F8-860AAC828579}" type="datetimeFigureOut">
              <a:rPr lang="en-CN" smtClean="0"/>
              <a:t>2025/12/31</a:t>
            </a:fld>
            <a:endParaRPr lang="en-CN"/>
          </a:p>
        </p:txBody>
      </p:sp>
      <p:sp>
        <p:nvSpPr>
          <p:cNvPr id="5" name="Footer Placeholder 4">
            <a:extLst>
              <a:ext uri="{FF2B5EF4-FFF2-40B4-BE49-F238E27FC236}">
                <a16:creationId xmlns:a16="http://schemas.microsoft.com/office/drawing/2014/main" id="{6CE5F546-7DF3-68E3-983E-D2CC4A4055FB}"/>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926581C-5C18-F8D5-E338-837E81C9C826}"/>
              </a:ext>
            </a:extLst>
          </p:cNvPr>
          <p:cNvSpPr>
            <a:spLocks noGrp="1"/>
          </p:cNvSpPr>
          <p:nvPr>
            <p:ph type="sldNum" sz="quarter" idx="12"/>
          </p:nvPr>
        </p:nvSpPr>
        <p:spPr/>
        <p:txBody>
          <a:bodyPr/>
          <a:lstStyle/>
          <a:p>
            <a:fld id="{B7A8C891-8131-B349-9F10-03DCDB007C44}" type="slidenum">
              <a:rPr lang="en-CN" smtClean="0"/>
              <a:t>‹#›</a:t>
            </a:fld>
            <a:endParaRPr lang="en-CN"/>
          </a:p>
        </p:txBody>
      </p:sp>
    </p:spTree>
    <p:extLst>
      <p:ext uri="{BB962C8B-B14F-4D97-AF65-F5344CB8AC3E}">
        <p14:creationId xmlns:p14="http://schemas.microsoft.com/office/powerpoint/2010/main" val="39058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Title 1">
            <a:extLst>
              <a:ext uri="{FF2B5EF4-FFF2-40B4-BE49-F238E27FC236}">
                <a16:creationId xmlns:a16="http://schemas.microsoft.com/office/drawing/2014/main" id="{E4955F73-BCD8-4858-BDA2-D30A6DDD9E2F}"/>
              </a:ext>
            </a:extLst>
          </p:cNvPr>
          <p:cNvSpPr>
            <a:spLocks noGrp="1"/>
          </p:cNvSpPr>
          <p:nvPr>
            <p:ph type="title"/>
          </p:nvPr>
        </p:nvSpPr>
        <p:spPr>
          <a:xfrm>
            <a:off x="457200" y="925689"/>
            <a:ext cx="4797425" cy="338554"/>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6DB3700-A2AA-CC46-AB06-739575CE1198}"/>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8" name="Text Placeholder 3">
            <a:extLst>
              <a:ext uri="{FF2B5EF4-FFF2-40B4-BE49-F238E27FC236}">
                <a16:creationId xmlns:a16="http://schemas.microsoft.com/office/drawing/2014/main" id="{78F2DB0F-A762-9841-A4D7-8B6F3D5251E5}"/>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964562"/>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dirty="0"/>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dirty="0"/>
              <a:t>Edit Master Text Styles</a:t>
            </a:r>
          </a:p>
        </p:txBody>
      </p:sp>
      <p:sp>
        <p:nvSpPr>
          <p:cNvPr id="11" name="Text Placeholder 10">
            <a:extLst>
              <a:ext uri="{FF2B5EF4-FFF2-40B4-BE49-F238E27FC236}">
                <a16:creationId xmlns:a16="http://schemas.microsoft.com/office/drawing/2014/main" id="{E59EA3FB-C095-0948-83CD-4F812F3CA45C}"/>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4394260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B1233E-0479-BC2D-6248-EA1AD674FD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EBB215B-7997-B1DC-39A4-C257D842EE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82F07084-73BD-4CC2-6D47-A93CCBA5C6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FE3DE4-F0F1-4548-90F8-860AAC828579}" type="datetimeFigureOut">
              <a:rPr lang="en-CN" smtClean="0"/>
              <a:t>2025/12/31</a:t>
            </a:fld>
            <a:endParaRPr lang="en-CN"/>
          </a:p>
        </p:txBody>
      </p:sp>
      <p:sp>
        <p:nvSpPr>
          <p:cNvPr id="5" name="Footer Placeholder 4">
            <a:extLst>
              <a:ext uri="{FF2B5EF4-FFF2-40B4-BE49-F238E27FC236}">
                <a16:creationId xmlns:a16="http://schemas.microsoft.com/office/drawing/2014/main" id="{58540412-8CC9-14EF-A3BA-7A4A1D673D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N"/>
          </a:p>
        </p:txBody>
      </p:sp>
      <p:sp>
        <p:nvSpPr>
          <p:cNvPr id="6" name="Slide Number Placeholder 5">
            <a:extLst>
              <a:ext uri="{FF2B5EF4-FFF2-40B4-BE49-F238E27FC236}">
                <a16:creationId xmlns:a16="http://schemas.microsoft.com/office/drawing/2014/main" id="{CC39E064-1020-E7BD-FD2F-80A68856F2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A8C891-8131-B349-9F10-03DCDB007C44}" type="slidenum">
              <a:rPr lang="en-CN" smtClean="0"/>
              <a:t>‹#›</a:t>
            </a:fld>
            <a:endParaRPr lang="en-CN"/>
          </a:p>
        </p:txBody>
      </p:sp>
    </p:spTree>
    <p:extLst>
      <p:ext uri="{BB962C8B-B14F-4D97-AF65-F5344CB8AC3E}">
        <p14:creationId xmlns:p14="http://schemas.microsoft.com/office/powerpoint/2010/main" val="3781643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257128-51BB-9C15-A5A0-7E0F2BA28061}"/>
              </a:ext>
            </a:extLst>
          </p:cNvPr>
          <p:cNvSpPr>
            <a:spLocks noGrp="1"/>
          </p:cNvSpPr>
          <p:nvPr>
            <p:ph type="title"/>
          </p:nvPr>
        </p:nvSpPr>
        <p:spPr>
          <a:xfrm>
            <a:off x="457200" y="674049"/>
            <a:ext cx="4797425" cy="841834"/>
          </a:xfrm>
        </p:spPr>
        <p:txBody>
          <a:bodyPr/>
          <a:lstStyle/>
          <a:p>
            <a:r>
              <a:rPr lang="en-US" sz="1800" dirty="0"/>
              <a:t>Inspiring Customers with a </a:t>
            </a:r>
            <a:r>
              <a:rPr lang="en-US" sz="1800" dirty="0" err="1"/>
              <a:t>Personalised</a:t>
            </a:r>
            <a:r>
              <a:rPr lang="en-US" sz="1800" dirty="0"/>
              <a:t> Search Page for Enhanced Discovery and Engagement</a:t>
            </a:r>
          </a:p>
        </p:txBody>
      </p:sp>
      <p:sp>
        <p:nvSpPr>
          <p:cNvPr id="6" name="Text Placeholder 5">
            <a:extLst>
              <a:ext uri="{FF2B5EF4-FFF2-40B4-BE49-F238E27FC236}">
                <a16:creationId xmlns:a16="http://schemas.microsoft.com/office/drawing/2014/main" id="{A4C927A9-FEC5-4C36-83CE-EAAABE0B5D32}"/>
              </a:ext>
            </a:extLst>
          </p:cNvPr>
          <p:cNvSpPr>
            <a:spLocks noGrp="1"/>
          </p:cNvSpPr>
          <p:nvPr>
            <p:ph type="body" sz="quarter" idx="10"/>
          </p:nvPr>
        </p:nvSpPr>
        <p:spPr>
          <a:xfrm>
            <a:off x="6582021" y="798698"/>
            <a:ext cx="3360535" cy="223010"/>
          </a:xfrm>
        </p:spPr>
        <p:txBody>
          <a:bodyPr/>
          <a:lstStyle/>
          <a:p>
            <a:r>
              <a:rPr lang="en-US" dirty="0" err="1">
                <a:solidFill>
                  <a:schemeClr val="bg1">
                    <a:lumMod val="50000"/>
                  </a:schemeClr>
                </a:solidFill>
              </a:rPr>
              <a:t>Customised</a:t>
            </a:r>
            <a:r>
              <a:rPr lang="en-US" dirty="0">
                <a:solidFill>
                  <a:schemeClr val="bg1">
                    <a:lumMod val="50000"/>
                  </a:schemeClr>
                </a:solidFill>
              </a:rPr>
              <a:t> Content Creation</a:t>
            </a:r>
          </a:p>
        </p:txBody>
      </p:sp>
      <p:sp>
        <p:nvSpPr>
          <p:cNvPr id="8" name="Text Placeholder 7">
            <a:extLst>
              <a:ext uri="{FF2B5EF4-FFF2-40B4-BE49-F238E27FC236}">
                <a16:creationId xmlns:a16="http://schemas.microsoft.com/office/drawing/2014/main" id="{529AB6E5-C8B5-4677-AB75-D7763309E14C}"/>
              </a:ext>
            </a:extLst>
          </p:cNvPr>
          <p:cNvSpPr>
            <a:spLocks noGrp="1"/>
          </p:cNvSpPr>
          <p:nvPr>
            <p:ph type="body" sz="quarter" idx="18"/>
          </p:nvPr>
        </p:nvSpPr>
        <p:spPr>
          <a:xfrm>
            <a:off x="6582019" y="3429000"/>
            <a:ext cx="2204130" cy="223010"/>
          </a:xfrm>
        </p:spPr>
        <p:txBody>
          <a:bodyPr/>
          <a:lstStyle/>
          <a:p>
            <a:r>
              <a:rPr lang="en-US" dirty="0">
                <a:solidFill>
                  <a:schemeClr val="bg1">
                    <a:lumMod val="50000"/>
                  </a:schemeClr>
                </a:solidFill>
              </a:rPr>
              <a:t>Experiment Design</a:t>
            </a:r>
          </a:p>
        </p:txBody>
      </p:sp>
      <p:sp>
        <p:nvSpPr>
          <p:cNvPr id="10" name="Rectangle 9">
            <a:extLst>
              <a:ext uri="{FF2B5EF4-FFF2-40B4-BE49-F238E27FC236}">
                <a16:creationId xmlns:a16="http://schemas.microsoft.com/office/drawing/2014/main" id="{64A199E1-B171-4995-B998-F3893DCC8086}"/>
              </a:ext>
            </a:extLst>
          </p:cNvPr>
          <p:cNvSpPr/>
          <p:nvPr/>
        </p:nvSpPr>
        <p:spPr>
          <a:xfrm>
            <a:off x="6582019" y="1125468"/>
            <a:ext cx="5130717" cy="1754326"/>
          </a:xfrm>
          <a:prstGeom prst="rect">
            <a:avLst/>
          </a:prstGeom>
        </p:spPr>
        <p:txBody>
          <a:bodyPr wrap="square" lIns="0" rIns="0">
            <a:spAutoFit/>
          </a:bodyPr>
          <a:lstStyle/>
          <a:p>
            <a:pPr marL="342900" lvl="0" indent="-342900" defTabSz="914377">
              <a:spcAft>
                <a:spcPts val="600"/>
              </a:spcAft>
              <a:buFontTx/>
              <a:buAutoNum type="arabicPeriod"/>
              <a:defRPr/>
            </a:pPr>
            <a:r>
              <a:rPr lang="en-US" sz="1400" dirty="0">
                <a:solidFill>
                  <a:srgbClr val="222222"/>
                </a:solidFill>
                <a:latin typeface="Calibri"/>
              </a:rPr>
              <a:t>Customer personal data—including age group, gender, geo-location, and recent interactions—are analyzed to tailor recommendations.</a:t>
            </a:r>
          </a:p>
          <a:p>
            <a:pPr marL="342900" lvl="0" indent="-342900" defTabSz="914377">
              <a:spcAft>
                <a:spcPts val="600"/>
              </a:spcAft>
              <a:buFontTx/>
              <a:buAutoNum type="arabicPeriod"/>
              <a:defRPr/>
            </a:pPr>
            <a:r>
              <a:rPr lang="en-US" sz="1400" dirty="0">
                <a:solidFill>
                  <a:srgbClr val="222222"/>
                </a:solidFill>
                <a:latin typeface="Calibri"/>
              </a:rPr>
              <a:t>Contextual factors such as seasonality, location, and weather are also considered to enhance relevance.</a:t>
            </a:r>
          </a:p>
          <a:p>
            <a:pPr marL="342900" lvl="0" indent="-342900" defTabSz="914377">
              <a:spcAft>
                <a:spcPts val="600"/>
              </a:spcAft>
              <a:buFontTx/>
              <a:buAutoNum type="arabicPeriod"/>
              <a:defRPr/>
            </a:pPr>
            <a:r>
              <a:rPr lang="en-US" sz="1400" dirty="0">
                <a:solidFill>
                  <a:srgbClr val="222222"/>
                </a:solidFill>
                <a:latin typeface="Calibri"/>
              </a:rPr>
              <a:t>Additionally, marketing data and sponsored content are integrated to create a well-balanced and engaging experience.</a:t>
            </a:r>
          </a:p>
        </p:txBody>
      </p:sp>
      <p:sp>
        <p:nvSpPr>
          <p:cNvPr id="11" name="Rectangle 10">
            <a:extLst>
              <a:ext uri="{FF2B5EF4-FFF2-40B4-BE49-F238E27FC236}">
                <a16:creationId xmlns:a16="http://schemas.microsoft.com/office/drawing/2014/main" id="{D12EFD7A-CE8A-41EC-B71C-D39ECBA057FE}"/>
              </a:ext>
            </a:extLst>
          </p:cNvPr>
          <p:cNvSpPr/>
          <p:nvPr/>
        </p:nvSpPr>
        <p:spPr>
          <a:xfrm>
            <a:off x="6582018" y="3760498"/>
            <a:ext cx="5130717" cy="2970044"/>
          </a:xfrm>
          <a:prstGeom prst="rect">
            <a:avLst/>
          </a:prstGeom>
        </p:spPr>
        <p:txBody>
          <a:bodyPr wrap="square" lIns="0" rIns="0">
            <a:spAutoFit/>
          </a:bodyPr>
          <a:lstStyle/>
          <a:p>
            <a:pPr marL="342900" marR="0" lvl="0" indent="-342900" algn="l" defTabSz="914400" rtl="0" eaLnBrk="1" fontAlgn="auto" latinLnBrk="0" hangingPunct="1">
              <a:lnSpc>
                <a:spcPct val="100000"/>
              </a:lnSpc>
              <a:spcBef>
                <a:spcPts val="0"/>
              </a:spcBef>
              <a:spcAft>
                <a:spcPts val="600"/>
              </a:spcAft>
              <a:buClr>
                <a:schemeClr val="tx1"/>
              </a:buClr>
              <a:buSzTx/>
              <a:buFont typeface="+mj-lt"/>
              <a:buAutoNum type="arabicPeriod"/>
              <a:tabLst/>
              <a:defRPr/>
            </a:pPr>
            <a:r>
              <a:rPr lang="en-US" sz="1400" dirty="0">
                <a:solidFill>
                  <a:srgbClr val="222222"/>
                </a:solidFill>
                <a:latin typeface="Calibri" panose="020F0502020204030204" pitchFamily="34" charset="0"/>
              </a:rPr>
              <a:t>Rollout scale: a selection of sales channels/countries/markets, in consideration of market size, exposing targets and product </a:t>
            </a:r>
            <a:r>
              <a:rPr lang="en-US" sz="1400" dirty="0" err="1">
                <a:solidFill>
                  <a:srgbClr val="222222"/>
                </a:solidFill>
                <a:latin typeface="Calibri" panose="020F0502020204030204" pitchFamily="34" charset="0"/>
              </a:rPr>
              <a:t>stockability</a:t>
            </a:r>
            <a:endParaRPr lang="en-US" sz="1400" dirty="0">
              <a:solidFill>
                <a:srgbClr val="222222"/>
              </a:solidFill>
              <a:latin typeface="Calibri" panose="020F0502020204030204" pitchFamily="34" charset="0"/>
            </a:endParaRPr>
          </a:p>
          <a:p>
            <a:pPr marL="342900" marR="0" lvl="0" indent="-342900" algn="l" defTabSz="914400" rtl="0" eaLnBrk="1" fontAlgn="auto" latinLnBrk="0" hangingPunct="1">
              <a:lnSpc>
                <a:spcPct val="100000"/>
              </a:lnSpc>
              <a:spcBef>
                <a:spcPts val="0"/>
              </a:spcBef>
              <a:buClr>
                <a:schemeClr val="tx1"/>
              </a:buClr>
              <a:buSzTx/>
              <a:buFont typeface="+mj-lt"/>
              <a:buAutoNum type="arabicPeriod"/>
              <a:tabLst/>
              <a:defRPr/>
            </a:pPr>
            <a:r>
              <a:rPr lang="en-US" sz="1400" dirty="0">
                <a:solidFill>
                  <a:srgbClr val="222222"/>
                </a:solidFill>
                <a:latin typeface="Calibri" panose="020F0502020204030204" pitchFamily="34" charset="0"/>
              </a:rPr>
              <a:t>Measurement goals:</a:t>
            </a:r>
          </a:p>
          <a:p>
            <a:pPr marL="800100" lvl="1" indent="-342900">
              <a:buClr>
                <a:schemeClr val="tx1"/>
              </a:buClr>
              <a:buFont typeface="+mj-lt"/>
              <a:buAutoNum type="arabicPeriod"/>
              <a:defRPr/>
            </a:pPr>
            <a:r>
              <a:rPr lang="en-US" sz="1400" dirty="0">
                <a:solidFill>
                  <a:srgbClr val="222222"/>
                </a:solidFill>
                <a:latin typeface="Calibri" panose="020F0502020204030204" pitchFamily="34" charset="0"/>
              </a:rPr>
              <a:t>Business impact/GMV</a:t>
            </a:r>
          </a:p>
          <a:p>
            <a:pPr marL="800100" lvl="1" indent="-342900">
              <a:buClr>
                <a:schemeClr val="tx1"/>
              </a:buClr>
              <a:buFont typeface="+mj-lt"/>
              <a:buAutoNum type="arabicPeriod"/>
              <a:defRPr/>
            </a:pPr>
            <a:r>
              <a:rPr lang="en-US" sz="1400" dirty="0">
                <a:solidFill>
                  <a:srgbClr val="222222"/>
                </a:solidFill>
                <a:latin typeface="Calibri" panose="020F0502020204030204" pitchFamily="34" charset="0"/>
              </a:rPr>
              <a:t>Customer impact/core engagement</a:t>
            </a:r>
          </a:p>
          <a:p>
            <a:pPr marL="800100" lvl="1" indent="-342900">
              <a:buClr>
                <a:schemeClr val="tx1"/>
              </a:buClr>
              <a:buFont typeface="+mj-lt"/>
              <a:buAutoNum type="arabicPeriod"/>
              <a:defRPr/>
            </a:pPr>
            <a:r>
              <a:rPr lang="en-US" sz="1400" dirty="0">
                <a:solidFill>
                  <a:srgbClr val="222222"/>
                </a:solidFill>
                <a:latin typeface="Calibri" panose="020F0502020204030204" pitchFamily="34" charset="0"/>
              </a:rPr>
              <a:t>Content impact/content effectiveness </a:t>
            </a:r>
          </a:p>
          <a:p>
            <a:pPr marL="342900" indent="-342900">
              <a:buClr>
                <a:schemeClr val="tx1"/>
              </a:buClr>
              <a:buFont typeface="+mj-lt"/>
              <a:buAutoNum type="arabicPeriod"/>
              <a:defRPr/>
            </a:pPr>
            <a:r>
              <a:rPr lang="en-US" sz="1400" dirty="0">
                <a:solidFill>
                  <a:srgbClr val="222222"/>
                </a:solidFill>
                <a:latin typeface="Calibri" panose="020F0502020204030204" pitchFamily="34" charset="0"/>
              </a:rPr>
              <a:t>KPIs</a:t>
            </a:r>
          </a:p>
          <a:p>
            <a:pPr marL="800100" lvl="1" indent="-342900">
              <a:buClr>
                <a:schemeClr val="tx1"/>
              </a:buClr>
              <a:buFont typeface="+mj-lt"/>
              <a:buAutoNum type="arabicPeriod"/>
              <a:defRPr/>
            </a:pPr>
            <a:r>
              <a:rPr lang="en-US" sz="1400" dirty="0">
                <a:solidFill>
                  <a:srgbClr val="222222"/>
                </a:solidFill>
                <a:latin typeface="Calibri" panose="020F0502020204030204" pitchFamily="34" charset="0"/>
              </a:rPr>
              <a:t>CTRs</a:t>
            </a:r>
          </a:p>
          <a:p>
            <a:pPr marL="800100" lvl="1" indent="-342900">
              <a:buClr>
                <a:schemeClr val="tx1"/>
              </a:buClr>
              <a:buFont typeface="+mj-lt"/>
              <a:buAutoNum type="arabicPeriod"/>
              <a:defRPr/>
            </a:pPr>
            <a:r>
              <a:rPr lang="en-US" sz="1400" dirty="0" err="1">
                <a:solidFill>
                  <a:srgbClr val="222222"/>
                </a:solidFill>
                <a:latin typeface="Calibri" panose="020F0502020204030204" pitchFamily="34" charset="0"/>
              </a:rPr>
              <a:t>AppWAU</a:t>
            </a:r>
            <a:endParaRPr lang="en-US" sz="1400" dirty="0">
              <a:solidFill>
                <a:srgbClr val="222222"/>
              </a:solidFill>
              <a:latin typeface="Calibri" panose="020F0502020204030204" pitchFamily="34" charset="0"/>
            </a:endParaRPr>
          </a:p>
          <a:p>
            <a:pPr marL="800100" lvl="1" indent="-342900">
              <a:buClr>
                <a:schemeClr val="tx1"/>
              </a:buClr>
              <a:buFont typeface="+mj-lt"/>
              <a:buAutoNum type="arabicPeriod"/>
              <a:defRPr/>
            </a:pPr>
            <a:r>
              <a:rPr lang="en-US" sz="1400" dirty="0">
                <a:solidFill>
                  <a:srgbClr val="222222"/>
                </a:solidFill>
                <a:latin typeface="Calibri" panose="020F0502020204030204" pitchFamily="34" charset="0"/>
              </a:rPr>
              <a:t>Search High-Value Actions (HVAs)</a:t>
            </a:r>
          </a:p>
          <a:p>
            <a:pPr marL="800100" lvl="1" indent="-342900">
              <a:buClr>
                <a:schemeClr val="tx1"/>
              </a:buClr>
              <a:buFont typeface="+mj-lt"/>
              <a:buAutoNum type="arabicPeriod"/>
              <a:defRPr/>
            </a:pPr>
            <a:r>
              <a:rPr lang="en-US" sz="1400" dirty="0" err="1">
                <a:solidFill>
                  <a:srgbClr val="222222"/>
                </a:solidFill>
                <a:latin typeface="Calibri" panose="020F0502020204030204" pitchFamily="34" charset="0"/>
              </a:rPr>
              <a:t>GMVaR</a:t>
            </a:r>
            <a:r>
              <a:rPr lang="en-US" sz="1400" dirty="0">
                <a:solidFill>
                  <a:srgbClr val="222222"/>
                </a:solidFill>
                <a:latin typeface="Calibri" panose="020F0502020204030204" pitchFamily="34" charset="0"/>
              </a:rPr>
              <a:t> </a:t>
            </a:r>
          </a:p>
          <a:p>
            <a:pPr lvl="1">
              <a:buClr>
                <a:schemeClr val="tx1"/>
              </a:buClr>
              <a:defRPr/>
            </a:pPr>
            <a:endParaRPr lang="en-US" sz="1400" dirty="0">
              <a:solidFill>
                <a:srgbClr val="222222"/>
              </a:solidFill>
              <a:latin typeface="Calibri" panose="020F0502020204030204" pitchFamily="34" charset="0"/>
            </a:endParaRPr>
          </a:p>
        </p:txBody>
      </p:sp>
      <p:pic>
        <p:nvPicPr>
          <p:cNvPr id="12" name="Picture 11">
            <a:extLst>
              <a:ext uri="{FF2B5EF4-FFF2-40B4-BE49-F238E27FC236}">
                <a16:creationId xmlns:a16="http://schemas.microsoft.com/office/drawing/2014/main" id="{16A8FEE9-0AF4-B13A-D8CD-46D61A4FE952}"/>
              </a:ext>
            </a:extLst>
          </p:cNvPr>
          <p:cNvPicPr>
            <a:picLocks noChangeAspect="1"/>
          </p:cNvPicPr>
          <p:nvPr/>
        </p:nvPicPr>
        <p:blipFill>
          <a:blip r:embed="rId3"/>
          <a:stretch>
            <a:fillRect/>
          </a:stretch>
        </p:blipFill>
        <p:spPr>
          <a:xfrm>
            <a:off x="304426" y="264828"/>
            <a:ext cx="1100301" cy="338554"/>
          </a:xfrm>
          <a:prstGeom prst="rect">
            <a:avLst/>
          </a:prstGeom>
        </p:spPr>
      </p:pic>
      <p:sp>
        <p:nvSpPr>
          <p:cNvPr id="13" name="Text Placeholder 5">
            <a:extLst>
              <a:ext uri="{FF2B5EF4-FFF2-40B4-BE49-F238E27FC236}">
                <a16:creationId xmlns:a16="http://schemas.microsoft.com/office/drawing/2014/main" id="{53A62541-B871-D99A-FC8D-4219F804E289}"/>
              </a:ext>
            </a:extLst>
          </p:cNvPr>
          <p:cNvSpPr txBox="1">
            <a:spLocks/>
          </p:cNvSpPr>
          <p:nvPr/>
        </p:nvSpPr>
        <p:spPr>
          <a:xfrm>
            <a:off x="577461" y="1623557"/>
            <a:ext cx="5032521" cy="1343958"/>
          </a:xfrm>
          <a:prstGeom prst="rect">
            <a:avLst/>
          </a:prstGeom>
          <a:noFill/>
        </p:spPr>
        <p:txBody>
          <a:bodyPr vert="horz" wrap="square" lIns="0" tIns="0" rIns="0" bIns="0" rtlCol="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600" b="1" kern="1200" cap="none" spc="100" baseline="0" smtClean="0">
                <a:solidFill>
                  <a:schemeClr val="tx1"/>
                </a:solidFill>
                <a:latin typeface="+mn-lt"/>
                <a:ea typeface="+mj-ea"/>
                <a:cs typeface="+mj-cs"/>
              </a:defRPr>
            </a:lvl1pPr>
            <a:lvl2pPr marL="171450" indent="0" algn="l" defTabSz="914400" rtl="0" eaLnBrk="1" latinLnBrk="0" hangingPunct="1">
              <a:lnSpc>
                <a:spcPct val="90000"/>
              </a:lnSpc>
              <a:spcBef>
                <a:spcPts val="500"/>
              </a:spcBef>
              <a:buFont typeface="Arial" panose="020B0604020202020204" pitchFamily="34" charset="0"/>
              <a:buNone/>
              <a:defRPr lang="en-US" sz="135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35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35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3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spc="0" dirty="0">
                <a:solidFill>
                  <a:schemeClr val="bg1">
                    <a:lumMod val="50000"/>
                  </a:schemeClr>
                </a:solidFill>
              </a:rPr>
              <a:t>Problem</a:t>
            </a:r>
            <a:r>
              <a:rPr lang="en-US" sz="1200" spc="0" dirty="0"/>
              <a:t> </a:t>
            </a:r>
          </a:p>
          <a:p>
            <a:pPr marL="0" indent="0">
              <a:lnSpc>
                <a:spcPct val="100000"/>
              </a:lnSpc>
              <a:spcBef>
                <a:spcPts val="400"/>
              </a:spcBef>
              <a:buNone/>
            </a:pPr>
            <a:r>
              <a:rPr lang="en-US" sz="1200" b="0" spc="0" dirty="0"/>
              <a:t>Zalando, a leading European fashion and lifestyle e-commerce platform, seeks to accelerate growth by providing targeted and inspirational content for a personalized customer experience. The current search functionality is well-suited for customers with clear, intent-driven queries; however, it may under-serve those in an exploratory mindsets who arrive with only a vague idea in mind but are open to inspirations.</a:t>
            </a:r>
          </a:p>
        </p:txBody>
      </p:sp>
      <p:sp>
        <p:nvSpPr>
          <p:cNvPr id="14" name="Text Placeholder 5">
            <a:extLst>
              <a:ext uri="{FF2B5EF4-FFF2-40B4-BE49-F238E27FC236}">
                <a16:creationId xmlns:a16="http://schemas.microsoft.com/office/drawing/2014/main" id="{E9728561-17DA-5123-467F-F3F7861C7E26}"/>
              </a:ext>
            </a:extLst>
          </p:cNvPr>
          <p:cNvSpPr txBox="1">
            <a:spLocks/>
          </p:cNvSpPr>
          <p:nvPr/>
        </p:nvSpPr>
        <p:spPr>
          <a:xfrm>
            <a:off x="577460" y="3158536"/>
            <a:ext cx="5032521" cy="1528624"/>
          </a:xfrm>
          <a:prstGeom prst="rect">
            <a:avLst/>
          </a:prstGeom>
          <a:noFill/>
        </p:spPr>
        <p:txBody>
          <a:bodyPr vert="horz" wrap="square" lIns="0" tIns="0" rIns="0" bIns="0" rtlCol="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600" b="1" kern="1200" cap="none" spc="100" baseline="0" smtClean="0">
                <a:solidFill>
                  <a:schemeClr val="tx1"/>
                </a:solidFill>
                <a:latin typeface="+mn-lt"/>
                <a:ea typeface="+mj-ea"/>
                <a:cs typeface="+mj-cs"/>
              </a:defRPr>
            </a:lvl1pPr>
            <a:lvl2pPr marL="171450" indent="0" algn="l" defTabSz="914400" rtl="0" eaLnBrk="1" latinLnBrk="0" hangingPunct="1">
              <a:lnSpc>
                <a:spcPct val="90000"/>
              </a:lnSpc>
              <a:spcBef>
                <a:spcPts val="500"/>
              </a:spcBef>
              <a:buFont typeface="Arial" panose="020B0604020202020204" pitchFamily="34" charset="0"/>
              <a:buNone/>
              <a:defRPr lang="en-US" sz="135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35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35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3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spc="0" dirty="0">
                <a:solidFill>
                  <a:schemeClr val="bg1">
                    <a:lumMod val="50000"/>
                  </a:schemeClr>
                </a:solidFill>
              </a:rPr>
              <a:t>Business Solution </a:t>
            </a:r>
          </a:p>
          <a:p>
            <a:pPr marL="0" indent="0">
              <a:lnSpc>
                <a:spcPct val="100000"/>
              </a:lnSpc>
              <a:spcBef>
                <a:spcPts val="400"/>
              </a:spcBef>
              <a:buNone/>
            </a:pPr>
            <a:r>
              <a:rPr lang="en-US" sz="1200" b="0" spc="0" dirty="0"/>
              <a:t>To better inspire customers and address their subtle interests, the product manager proposes introducing an engaging leaderboard feature on the search page. This leaderboard will showcase and rank the latest trending concepts, tailored to each customer’s personal preferences and recent interests. By surfacing trending topics during search, the leaderboard will encourage discovery and exploration, making the shopping experience more dynamic and inspiring.</a:t>
            </a:r>
          </a:p>
        </p:txBody>
      </p:sp>
      <p:sp>
        <p:nvSpPr>
          <p:cNvPr id="15" name="Text Placeholder 5">
            <a:extLst>
              <a:ext uri="{FF2B5EF4-FFF2-40B4-BE49-F238E27FC236}">
                <a16:creationId xmlns:a16="http://schemas.microsoft.com/office/drawing/2014/main" id="{EF60CDB3-85AE-B6EE-C5FB-5E083345E7FD}"/>
              </a:ext>
            </a:extLst>
          </p:cNvPr>
          <p:cNvSpPr txBox="1">
            <a:spLocks/>
          </p:cNvSpPr>
          <p:nvPr/>
        </p:nvSpPr>
        <p:spPr>
          <a:xfrm>
            <a:off x="577461" y="4878181"/>
            <a:ext cx="5032521" cy="1815882"/>
          </a:xfrm>
          <a:prstGeom prst="rect">
            <a:avLst/>
          </a:prstGeom>
          <a:noFill/>
        </p:spPr>
        <p:txBody>
          <a:bodyPr vert="horz" wrap="square" lIns="0" tIns="0" rIns="0" bIns="0" rtlCol="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600" b="1" kern="1200" cap="none" spc="100" baseline="0" smtClean="0">
                <a:solidFill>
                  <a:schemeClr val="tx1"/>
                </a:solidFill>
                <a:latin typeface="+mn-lt"/>
                <a:ea typeface="+mj-ea"/>
                <a:cs typeface="+mj-cs"/>
              </a:defRPr>
            </a:lvl1pPr>
            <a:lvl2pPr marL="171450" indent="0" algn="l" defTabSz="914400" rtl="0" eaLnBrk="1" latinLnBrk="0" hangingPunct="1">
              <a:lnSpc>
                <a:spcPct val="90000"/>
              </a:lnSpc>
              <a:spcBef>
                <a:spcPts val="500"/>
              </a:spcBef>
              <a:buFont typeface="Arial" panose="020B0604020202020204" pitchFamily="34" charset="0"/>
              <a:buNone/>
              <a:defRPr lang="en-US" sz="135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35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35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3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None/>
            </a:pPr>
            <a:r>
              <a:rPr lang="en-US" sz="1200" spc="0" dirty="0">
                <a:solidFill>
                  <a:schemeClr val="bg1">
                    <a:lumMod val="50000"/>
                  </a:schemeClr>
                </a:solidFill>
              </a:rPr>
              <a:t>Improved User Experience</a:t>
            </a:r>
          </a:p>
          <a:p>
            <a:pPr>
              <a:lnSpc>
                <a:spcPct val="100000"/>
              </a:lnSpc>
              <a:spcBef>
                <a:spcPts val="400"/>
              </a:spcBef>
              <a:buFont typeface="+mj-lt"/>
              <a:buAutoNum type="arabicPeriod"/>
            </a:pPr>
            <a:r>
              <a:rPr lang="en-US" sz="1200" b="0" spc="0" dirty="0"/>
              <a:t>Introducing “Your Weekly Trend Leaderboard” on the search page, offering a dynamic and engaging way to discover trending brands and products.</a:t>
            </a:r>
          </a:p>
          <a:p>
            <a:pPr>
              <a:lnSpc>
                <a:spcPct val="100000"/>
              </a:lnSpc>
              <a:spcBef>
                <a:spcPts val="400"/>
              </a:spcBef>
              <a:buFont typeface="+mj-lt"/>
              <a:buAutoNum type="arabicPeriod"/>
            </a:pPr>
            <a:r>
              <a:rPr lang="en-US" sz="1200" b="0" spc="0" dirty="0"/>
              <a:t>The leaderboard is refreshed weekly to maintain a sense of novelty and relevance.</a:t>
            </a:r>
          </a:p>
          <a:p>
            <a:pPr>
              <a:lnSpc>
                <a:spcPct val="100000"/>
              </a:lnSpc>
              <a:spcBef>
                <a:spcPts val="400"/>
              </a:spcBef>
              <a:buFont typeface="+mj-lt"/>
              <a:buAutoNum type="arabicPeriod"/>
            </a:pPr>
            <a:r>
              <a:rPr lang="en-US" sz="1200" b="0" spc="0" dirty="0"/>
              <a:t>Both the content and ranking of items are </a:t>
            </a:r>
            <a:r>
              <a:rPr lang="en-US" sz="1200" b="0" spc="0" dirty="0" err="1"/>
              <a:t>personalised</a:t>
            </a:r>
            <a:r>
              <a:rPr lang="en-US" sz="1200" b="0" spc="0" dirty="0"/>
              <a:t> for each customer, taking into account factors such as age, gender, and preferred sales channel.</a:t>
            </a:r>
          </a:p>
        </p:txBody>
      </p:sp>
    </p:spTree>
    <p:extLst>
      <p:ext uri="{BB962C8B-B14F-4D97-AF65-F5344CB8AC3E}">
        <p14:creationId xmlns:p14="http://schemas.microsoft.com/office/powerpoint/2010/main" val="2674630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333</Words>
  <Application>Microsoft Macintosh PowerPoint</Application>
  <PresentationFormat>Widescreen</PresentationFormat>
  <Paragraphs>25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Calibri</vt:lpstr>
      <vt:lpstr>Calibri Light</vt:lpstr>
      <vt:lpstr>Office Theme</vt:lpstr>
      <vt:lpstr>Inspiring Customers with a Personalised Search Page for Enhanced Discovery and Engagement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Ivy Li</dc:creator>
  <cp:lastModifiedBy>Ivy Li</cp:lastModifiedBy>
  <cp:revision>3</cp:revision>
  <dcterms:created xsi:type="dcterms:W3CDTF">2025-12-31T08:35:24Z</dcterms:created>
  <dcterms:modified xsi:type="dcterms:W3CDTF">2025-12-31T09:37:39Z</dcterms:modified>
</cp:coreProperties>
</file>