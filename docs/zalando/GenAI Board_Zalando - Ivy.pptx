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B7188-91AE-4D43-A6E7-14BFF858DCF1}" v="10" dt="2025-12-31T09:23:08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>
        <p:scale>
          <a:sx n="49" d="100"/>
          <a:sy n="49" d="100"/>
        </p:scale>
        <p:origin x="-432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y Li" userId="e5d6e31d-e508-4d5d-b95b-b5ccfc06586d" providerId="ADAL" clId="{CF9C9CE5-3EBD-5C25-BC86-14BDD414BE6B}"/>
    <pc:docChg chg="undo custSel modSld">
      <pc:chgData name="Ivy Li" userId="e5d6e31d-e508-4d5d-b95b-b5ccfc06586d" providerId="ADAL" clId="{CF9C9CE5-3EBD-5C25-BC86-14BDD414BE6B}" dt="2025-12-31T09:23:14.887" v="793" actId="20577"/>
      <pc:docMkLst>
        <pc:docMk/>
      </pc:docMkLst>
      <pc:sldChg chg="modSp mod">
        <pc:chgData name="Ivy Li" userId="e5d6e31d-e508-4d5d-b95b-b5ccfc06586d" providerId="ADAL" clId="{CF9C9CE5-3EBD-5C25-BC86-14BDD414BE6B}" dt="2025-12-31T09:23:14.887" v="793" actId="20577"/>
        <pc:sldMkLst>
          <pc:docMk/>
          <pc:sldMk cId="2674630905" sldId="260"/>
        </pc:sldMkLst>
        <pc:spChg chg="mod">
          <ac:chgData name="Ivy Li" userId="e5d6e31d-e508-4d5d-b95b-b5ccfc06586d" providerId="ADAL" clId="{CF9C9CE5-3EBD-5C25-BC86-14BDD414BE6B}" dt="2025-12-31T09:13:21.528" v="100" actId="20577"/>
          <ac:spMkLst>
            <pc:docMk/>
            <pc:sldMk cId="2674630905" sldId="260"/>
            <ac:spMk id="4" creationId="{C0257128-51BB-9C15-A5A0-7E0F2BA28061}"/>
          </ac:spMkLst>
        </pc:spChg>
        <pc:spChg chg="mod">
          <ac:chgData name="Ivy Li" userId="e5d6e31d-e508-4d5d-b95b-b5ccfc06586d" providerId="ADAL" clId="{CF9C9CE5-3EBD-5C25-BC86-14BDD414BE6B}" dt="2025-12-31T09:22:12.834" v="760" actId="20577"/>
          <ac:spMkLst>
            <pc:docMk/>
            <pc:sldMk cId="2674630905" sldId="260"/>
            <ac:spMk id="10" creationId="{64A199E1-B171-4995-B998-F3893DCC8086}"/>
          </ac:spMkLst>
        </pc:spChg>
        <pc:spChg chg="mod">
          <ac:chgData name="Ivy Li" userId="e5d6e31d-e508-4d5d-b95b-b5ccfc06586d" providerId="ADAL" clId="{CF9C9CE5-3EBD-5C25-BC86-14BDD414BE6B}" dt="2025-12-31T09:23:14.887" v="793" actId="20577"/>
          <ac:spMkLst>
            <pc:docMk/>
            <pc:sldMk cId="2674630905" sldId="260"/>
            <ac:spMk id="11" creationId="{D12EFD7A-CE8A-41EC-B71C-D39ECBA057FE}"/>
          </ac:spMkLst>
        </pc:spChg>
        <pc:spChg chg="mod">
          <ac:chgData name="Ivy Li" userId="e5d6e31d-e508-4d5d-b95b-b5ccfc06586d" providerId="ADAL" clId="{CF9C9CE5-3EBD-5C25-BC86-14BDD414BE6B}" dt="2025-12-31T09:21:23.238" v="674" actId="1076"/>
          <ac:spMkLst>
            <pc:docMk/>
            <pc:sldMk cId="2674630905" sldId="260"/>
            <ac:spMk id="13" creationId="{53A62541-B871-D99A-FC8D-4219F804E289}"/>
          </ac:spMkLst>
        </pc:spChg>
        <pc:spChg chg="mod">
          <ac:chgData name="Ivy Li" userId="e5d6e31d-e508-4d5d-b95b-b5ccfc06586d" providerId="ADAL" clId="{CF9C9CE5-3EBD-5C25-BC86-14BDD414BE6B}" dt="2025-12-31T09:21:19.363" v="673" actId="1076"/>
          <ac:spMkLst>
            <pc:docMk/>
            <pc:sldMk cId="2674630905" sldId="260"/>
            <ac:spMk id="14" creationId="{E9728561-17DA-5123-467F-F3F7861C7E26}"/>
          </ac:spMkLst>
        </pc:spChg>
        <pc:spChg chg="mod">
          <ac:chgData name="Ivy Li" userId="e5d6e31d-e508-4d5d-b95b-b5ccfc06586d" providerId="ADAL" clId="{CF9C9CE5-3EBD-5C25-BC86-14BDD414BE6B}" dt="2025-12-31T09:21:15.105" v="672" actId="20577"/>
          <ac:spMkLst>
            <pc:docMk/>
            <pc:sldMk cId="2674630905" sldId="260"/>
            <ac:spMk id="15" creationId="{EF60CDB3-85AE-B6EE-C5FB-5E083345E7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EC940-AA52-4143-929B-9E2B03F6D9E8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43698-D68D-DA41-9B8D-7A9DB717F5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355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43698-D68D-DA41-9B8D-7A9DB717F540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9338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968D-E150-5D34-AEBD-39DB59D36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F8F96-44EB-E36B-E11B-F0BBABA9F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6BB30-1E09-8EAD-3EF9-C82187D8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A0C1-11E6-E67D-5E79-C23EAE26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9F596-2599-E428-DCB0-0BD8ED11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554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F91F-F039-9366-F0BD-BB86D1CB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02973-B701-38D5-8C69-D05C43C2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863B7-E275-4E8E-7CD2-5DE51211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3B432-5BC3-3645-A525-42D35020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C278D-8E10-78E2-0EFD-BE3D9AF1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045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80A2-F187-446D-D84C-F9D0ADA7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CF888-F0F2-7679-B06D-208409221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5E19-BFC8-F1ED-91BC-D876A5C6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FBB18-AED9-9C87-89C6-EB0F529D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E160-C6F5-0826-DBF4-B93C6DA6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105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42C5-4BC6-7FDC-29EE-FEECD3C7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78D7D-EDAD-0D4B-1442-B72ADB33F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745B0-E657-6048-48FB-5E44C8EE1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7C18A-D0BF-5A2D-2CAB-D82605CDB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01282-B7BD-8982-D826-DC31E74A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41B0C-02B1-8914-DE18-2C87DDF7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504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13A5-A4B5-28F3-9168-3387138F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E6C09-92B2-8BA1-AF03-7825ACFF9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6EAB6-95BC-75B9-6442-C8B53FACC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DDA39-E74B-54C9-5906-D54DF181B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B568ED-51AC-BDCB-2991-00B300FC5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79C12-8FC8-64FE-97DD-D0DA7AF7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88777-7925-4EB0-C037-423891FC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D9EC5-3827-65DF-6829-1507825E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4242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7B66-5591-5BDC-603C-6C1E0082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590D0-F78A-900A-B7B8-A172E055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164B1-9088-98F1-DAD3-9E6E80B4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EB410-3CEC-FC27-4D15-40D4F8F7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716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E4DBD-3B4D-3487-5B74-4CDD979E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62BBB-6DB4-2740-D0BA-78D09559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0F307-1FA9-21CE-E072-D6ADF84D2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9873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C544-5789-9DB2-B198-A27400BA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C5ABD-2A52-400C-836A-415AD66E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19E25-4A06-DB1D-996D-3513CA56A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817C3-ABA4-9206-0F16-24FDE53A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20C23-5966-4416-E080-F35A59EA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36F85-6FA1-7D16-215F-EE6FD301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535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D2D8-1F14-9F42-3AE3-57C90FAD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D99CF-9B72-326C-A001-2364C25E9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32969-2DDB-656D-8CBC-E670EC715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4EFCB-8B9A-A130-6C5F-96317B26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6454B-C913-8DF5-1EDF-2059BA9E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D824C-8D35-CC2C-4EAC-5C66B646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008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0ED1-7B87-EF3F-FA54-95B5D67A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D58D2-839E-EC2D-86FF-3C8D85C06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CEA8C-120E-9911-0997-268FEBAE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CBD0-E1D8-5819-10D0-D6BAC463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19796-C617-CF84-E910-E55B1701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728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5ADA2-ADE7-604B-5124-F6E007614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BFDD6-FCFC-42C6-77E7-EC4FF8E11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8431-CFA7-FAF1-35CB-C9DD69C9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5F546-7DF3-68E3-983E-D2CC4A40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6581C-5C18-F8D5-E338-837E81C9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8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3942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1233E-0479-BC2D-6248-EA1AD674F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B215B-7997-B1DC-39A4-C257D842E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07084-73BD-4CC2-6D47-A93CCBA5C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E3DE4-F0F1-4548-90F8-860AAC828579}" type="datetimeFigureOut">
              <a:rPr lang="en-CN" smtClean="0"/>
              <a:t>2025/12/31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0412-8CC9-14EF-A3BA-7A4A1D673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9E064-1020-E7BD-FD2F-80A68856F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8C891-8131-B349-9F10-03DCDB007C4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164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257128-51BB-9C15-A5A0-7E0F2BA2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8698"/>
            <a:ext cx="4797425" cy="592535"/>
          </a:xfrm>
        </p:spPr>
        <p:txBody>
          <a:bodyPr/>
          <a:lstStyle/>
          <a:p>
            <a:r>
              <a:rPr lang="en-US" sz="1800" dirty="0"/>
              <a:t>Empowering Customer Discovery through </a:t>
            </a:r>
            <a:r>
              <a:rPr lang="en-US" sz="1800" dirty="0" err="1"/>
              <a:t>Personalised</a:t>
            </a:r>
            <a:r>
              <a:rPr lang="en-US" sz="1800" dirty="0"/>
              <a:t> Boards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C927A9-FEC5-4C36-83CE-EAAABE0B5D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2021" y="798698"/>
            <a:ext cx="2127377" cy="22301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GenAI Application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9AB6E5-C8B5-4677-AB75-D7763309E1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2019" y="3429000"/>
            <a:ext cx="2204130" cy="22301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Experiment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A199E1-B171-4995-B998-F3893DCC8086}"/>
              </a:ext>
            </a:extLst>
          </p:cNvPr>
          <p:cNvSpPr/>
          <p:nvPr/>
        </p:nvSpPr>
        <p:spPr>
          <a:xfrm>
            <a:off x="6582019" y="1125468"/>
            <a:ext cx="5130717" cy="196977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2900" lvl="0" indent="-342900" defTabSz="914377">
              <a:spcAft>
                <a:spcPts val="600"/>
              </a:spcAft>
              <a:buFontTx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Customer and contextual data are used to train LLMs to understand recent trends, growing popularities, and individual preferences.</a:t>
            </a:r>
          </a:p>
          <a:p>
            <a:pPr marL="342900" lvl="0" indent="-342900" defTabSz="914377">
              <a:spcAft>
                <a:spcPts val="600"/>
              </a:spcAft>
              <a:buFontTx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The trained LLMs then recommend products to create a board collection which are most likely to match each customer’s recent interests and personal styles.</a:t>
            </a:r>
          </a:p>
          <a:p>
            <a:pPr marL="342900" lvl="0" indent="-342900" defTabSz="914377">
              <a:spcAft>
                <a:spcPts val="600"/>
              </a:spcAft>
              <a:buFontTx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LLMs also enrich content by generating </a:t>
            </a:r>
            <a:r>
              <a:rPr lang="en-US" sz="1400" dirty="0" err="1">
                <a:solidFill>
                  <a:srgbClr val="222222"/>
                </a:solidFill>
                <a:latin typeface="Calibri"/>
              </a:rPr>
              <a:t>personalised</a:t>
            </a:r>
            <a:r>
              <a:rPr lang="en-US" sz="1400" dirty="0">
                <a:solidFill>
                  <a:srgbClr val="222222"/>
                </a:solidFill>
                <a:latin typeface="Calibri"/>
              </a:rPr>
              <a:t> board titles, subtitles, and cover images for each user.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EFD7A-CE8A-41EC-B71C-D39ECBA057FE}"/>
              </a:ext>
            </a:extLst>
          </p:cNvPr>
          <p:cNvSpPr/>
          <p:nvPr/>
        </p:nvSpPr>
        <p:spPr>
          <a:xfrm>
            <a:off x="6582018" y="3760498"/>
            <a:ext cx="5130717" cy="275460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arabicPeriod"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Rollout scale: a selection of sales channels/countries/markets, in consideration of market size, exposing targets and product </a:t>
            </a: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stockability</a:t>
            </a:r>
            <a:endParaRPr lang="en-US" sz="14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Measurement goals: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Customer impact/core </a:t>
            </a: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engagement&amp;retention</a:t>
            </a:r>
            <a:endParaRPr lang="en-US" sz="14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Business impact/GMV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Content impact/content effectiveness 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KPIs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AppWAU</a:t>
            </a:r>
            <a:endParaRPr lang="en-US" sz="14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Board High-Value </a:t>
            </a: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Actions (HVAs)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GMVaR</a:t>
            </a:r>
            <a:endParaRPr lang="en-US" sz="14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9C2D7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A8FEE9-0AF4-B13A-D8CD-46D61A4FE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26" y="264828"/>
            <a:ext cx="1100301" cy="338554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3A62541-B871-D99A-FC8D-4219F804E289}"/>
              </a:ext>
            </a:extLst>
          </p:cNvPr>
          <p:cNvSpPr txBox="1">
            <a:spLocks/>
          </p:cNvSpPr>
          <p:nvPr/>
        </p:nvSpPr>
        <p:spPr>
          <a:xfrm>
            <a:off x="577461" y="1623557"/>
            <a:ext cx="5032521" cy="134395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spc="0" dirty="0">
                <a:solidFill>
                  <a:schemeClr val="bg1">
                    <a:lumMod val="50000"/>
                  </a:schemeClr>
                </a:solidFill>
              </a:rPr>
              <a:t>Problem</a:t>
            </a:r>
            <a:r>
              <a:rPr lang="en-US" sz="1200" spc="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0" spc="0" dirty="0"/>
              <a:t>Zalando, a leading European fashion and lifestyle e-commerce platform, aims to accelerate growth by delivering targeted and inspirational content for a personalized customer experience. While boards are designed to encourage customer exploration and engagement, they are currently curated by in-house staffs manually without </a:t>
            </a:r>
            <a:r>
              <a:rPr lang="en-US" sz="1200" b="0" spc="0" dirty="0" err="1"/>
              <a:t>personalised</a:t>
            </a:r>
            <a:r>
              <a:rPr lang="en-US" sz="1200" b="0" spc="0" dirty="0"/>
              <a:t> targeting, leading to outdated content, low user retention, and reduced click-through rates.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9728561-17DA-5123-467F-F3F7861C7E26}"/>
              </a:ext>
            </a:extLst>
          </p:cNvPr>
          <p:cNvSpPr txBox="1">
            <a:spLocks/>
          </p:cNvSpPr>
          <p:nvPr/>
        </p:nvSpPr>
        <p:spPr>
          <a:xfrm>
            <a:off x="577461" y="3199839"/>
            <a:ext cx="5032521" cy="15286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spc="0" dirty="0">
                <a:solidFill>
                  <a:schemeClr val="bg1">
                    <a:lumMod val="50000"/>
                  </a:schemeClr>
                </a:solidFill>
              </a:rPr>
              <a:t>Business Solution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0" spc="0" dirty="0"/>
              <a:t>To enhance customer engagement, retention, and conversion rates, the product manager proposes leverage large language models (LLMs) to </a:t>
            </a:r>
            <a:r>
              <a:rPr lang="en-US" sz="1200" b="0" spc="0" dirty="0" err="1"/>
              <a:t>analyse</a:t>
            </a:r>
            <a:r>
              <a:rPr lang="en-US" sz="1200" b="0" spc="0" dirty="0"/>
              <a:t> customer behaviors, interests, and contextual information—such as location, seasonality, and current trends—to automatically generate </a:t>
            </a:r>
            <a:r>
              <a:rPr lang="en-US" sz="1200" b="0" spc="0" dirty="0" err="1"/>
              <a:t>personalised</a:t>
            </a:r>
            <a:r>
              <a:rPr lang="en-US" sz="1200" b="0" spc="0" dirty="0"/>
              <a:t> boards for each user. These AI-driven boards will present relevant, timely, and inspiring product collections tailored to individual preferences.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F60CDB3-85AE-B6EE-C5FB-5E083345E7FD}"/>
              </a:ext>
            </a:extLst>
          </p:cNvPr>
          <p:cNvSpPr txBox="1">
            <a:spLocks/>
          </p:cNvSpPr>
          <p:nvPr/>
        </p:nvSpPr>
        <p:spPr>
          <a:xfrm>
            <a:off x="577461" y="4970514"/>
            <a:ext cx="5032521" cy="16312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600" b="1" kern="1200" cap="none" spc="100" baseline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1714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spc="0" dirty="0">
                <a:solidFill>
                  <a:schemeClr val="bg1">
                    <a:lumMod val="50000"/>
                  </a:schemeClr>
                </a:solidFill>
              </a:rPr>
              <a:t>Improved User Experience</a:t>
            </a:r>
          </a:p>
          <a:p>
            <a:pPr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sz="1200" b="0" spc="0" dirty="0"/>
              <a:t>Introducing “Your Weekly Discovery Board” - a personalized collection of products curated based on your recent browsing, </a:t>
            </a:r>
            <a:r>
              <a:rPr lang="en-US" sz="1200" b="0" spc="0" dirty="0" err="1"/>
              <a:t>wishlist</a:t>
            </a:r>
            <a:r>
              <a:rPr lang="en-US" sz="1200" b="0" spc="0" dirty="0"/>
              <a:t> additions, cart activity, and purchases.</a:t>
            </a:r>
          </a:p>
          <a:p>
            <a:pPr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sz="1200" b="0" spc="0" dirty="0"/>
              <a:t>The board is refreshed every week to deliver a sense of novelty and keep recommendations up to date.</a:t>
            </a:r>
          </a:p>
          <a:p>
            <a:pPr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sz="1200" b="0" spc="0" dirty="0"/>
              <a:t>Each board features tailored text content, making your experience more personalized, relevant, and engaging.</a:t>
            </a:r>
          </a:p>
        </p:txBody>
      </p:sp>
    </p:spTree>
    <p:extLst>
      <p:ext uri="{BB962C8B-B14F-4D97-AF65-F5344CB8AC3E}">
        <p14:creationId xmlns:p14="http://schemas.microsoft.com/office/powerpoint/2010/main" val="267463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334</Words>
  <Application>Microsoft Macintosh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Empowering Customer Discovery through Personalised Boards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Ivy Li</dc:creator>
  <cp:lastModifiedBy>Ivy Li</cp:lastModifiedBy>
  <cp:revision>2</cp:revision>
  <dcterms:created xsi:type="dcterms:W3CDTF">2025-12-31T08:35:24Z</dcterms:created>
  <dcterms:modified xsi:type="dcterms:W3CDTF">2025-12-31T09:23:16Z</dcterms:modified>
</cp:coreProperties>
</file>